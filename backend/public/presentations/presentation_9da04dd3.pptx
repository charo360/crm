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CD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498079" y="-548640"/>
            <a:ext cx="2560320" cy="2560320"/>
          </a:xfrm>
          <a:prstGeom prst="ellipse">
            <a:avLst/>
          </a:prstGeom>
          <a:solidFill>
            <a:srgbClr val="28C3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365760" y="5303520"/>
            <a:ext cx="1463040" cy="1463040"/>
          </a:xfrm>
          <a:prstGeom prst="ellipse">
            <a:avLst/>
          </a:prstGeom>
          <a:solidFill>
            <a:srgbClr val="1EB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 Light"/>
              </a:defRPr>
            </a:pPr>
            <a:r>
              <a:t>Q2 Growth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E0C0"/>
                </a:solidFill>
                <a:latin typeface="Calibri"/>
              </a:defRPr>
            </a:pPr>
            <a:r>
              <a:t>Presented by Zilo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206240"/>
            <a:ext cx="2286000" cy="54864"/>
          </a:xfrm>
          <a:prstGeom prst="rect">
            <a:avLst/>
          </a:prstGeom>
          <a:solidFill>
            <a:srgbClr val="4CD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1828800"/>
            <a:ext cx="6949440" cy="3200400"/>
          </a:xfrm>
          <a:prstGeom prst="rect">
            <a:avLst/>
          </a:prstGeom>
          <a:solidFill>
            <a:srgbClr val="071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828800"/>
            <a:ext cx="6949440" cy="73152"/>
          </a:xfrm>
          <a:prstGeom prst="rect">
            <a:avLst/>
          </a:prstGeom>
          <a:solidFill>
            <a:srgbClr val="4CD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 Light"/>
              </a:defRPr>
            </a:pPr>
            <a:r>
              <a:t>Market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CD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Key Trends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645920" cy="45720"/>
          </a:xfrm>
          <a:prstGeom prst="rect">
            <a:avLst/>
          </a:prstGeom>
          <a:solidFill>
            <a:srgbClr val="4CD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D0E8D8"/>
                </a:solidFill>
                <a:latin typeface="Calibri"/>
              </a:defRPr>
            </a:pPr>
            <a:r>
              <a:t>  ▸  Mobile commerce up 34% YoY</a:t>
            </a:r>
          </a:p>
          <a:p>
            <a:pPr>
              <a:spcAft>
                <a:spcPts val="1000"/>
              </a:spcAft>
              <a:defRPr sz="1800">
                <a:solidFill>
                  <a:srgbClr val="D0E8D8"/>
                </a:solidFill>
                <a:latin typeface="Calibri"/>
              </a:defRPr>
            </a:pPr>
            <a:r>
              <a:t>  ▸  Social selling drives 28% of new leads</a:t>
            </a:r>
          </a:p>
          <a:p>
            <a:pPr>
              <a:spcAft>
                <a:spcPts val="1000"/>
              </a:spcAft>
              <a:defRPr sz="1800">
                <a:solidFill>
                  <a:srgbClr val="D0E8D8"/>
                </a:solidFill>
                <a:latin typeface="Calibri"/>
              </a:defRPr>
            </a:pPr>
            <a:r>
              <a:t>  ▸  AI-powered follow-ups increase close rate by 2x</a:t>
            </a:r>
          </a:p>
          <a:p>
            <a:pPr>
              <a:spcAft>
                <a:spcPts val="1000"/>
              </a:spcAft>
              <a:defRPr sz="1800">
                <a:solidFill>
                  <a:srgbClr val="D0E8D8"/>
                </a:solidFill>
                <a:latin typeface="Calibri"/>
              </a:defRPr>
            </a:pPr>
            <a:r>
              <a:t>  ▸  WhatsApp remains #1 channel in East Africa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63093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E0C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CD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Revenue vs Costs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645920" cy="45720"/>
          </a:xfrm>
          <a:prstGeom prst="rect">
            <a:avLst/>
          </a:prstGeom>
          <a:solidFill>
            <a:srgbClr val="4CD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931920" cy="4572000"/>
          </a:xfrm>
          <a:prstGeom prst="rect">
            <a:avLst/>
          </a:prstGeom>
          <a:solidFill>
            <a:srgbClr val="071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754880" y="1463040"/>
            <a:ext cx="3931920" cy="4572000"/>
          </a:xfrm>
          <a:prstGeom prst="rect">
            <a:avLst/>
          </a:prstGeom>
          <a:solidFill>
            <a:srgbClr val="071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459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D137"/>
                </a:solidFill>
                <a:latin typeface="Calibri"/>
              </a:defRPr>
            </a:pPr>
            <a:r>
              <a:t>Revenue Drivers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9456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D0E8D8"/>
                </a:solidFill>
                <a:latin typeface="Calibri"/>
              </a:defRPr>
            </a:pPr>
            <a:r>
              <a:t>  ▸  New subscriptions +22%</a:t>
            </a:r>
          </a:p>
          <a:p>
            <a:pPr>
              <a:spcAft>
                <a:spcPts val="800"/>
              </a:spcAft>
              <a:defRPr sz="1500">
                <a:solidFill>
                  <a:srgbClr val="D0E8D8"/>
                </a:solidFill>
                <a:latin typeface="Calibri"/>
              </a:defRPr>
            </a:pPr>
            <a:r>
              <a:t>  ▸  Shopify autopilot adoption</a:t>
            </a:r>
          </a:p>
          <a:p>
            <a:pPr>
              <a:spcAft>
                <a:spcPts val="800"/>
              </a:spcAft>
              <a:defRPr sz="1500">
                <a:solidFill>
                  <a:srgbClr val="D0E8D8"/>
                </a:solidFill>
                <a:latin typeface="Calibri"/>
              </a:defRPr>
            </a:pPr>
            <a:r>
              <a:t>  ▸  Broadcast campaigns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6459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CD137"/>
                </a:solidFill>
                <a:latin typeface="Calibri"/>
              </a:defRPr>
            </a:pPr>
            <a:r>
              <a:t>Cost Optimisation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194560"/>
            <a:ext cx="35661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D0E8D8"/>
                </a:solidFill>
                <a:latin typeface="Calibri"/>
              </a:defRPr>
            </a:pPr>
            <a:r>
              <a:t>  ▸  Automated support -40% tickets</a:t>
            </a:r>
          </a:p>
          <a:p>
            <a:pPr>
              <a:spcAft>
                <a:spcPts val="800"/>
              </a:spcAft>
              <a:defRPr sz="1500">
                <a:solidFill>
                  <a:srgbClr val="D0E8D8"/>
                </a:solidFill>
                <a:latin typeface="Calibri"/>
              </a:defRPr>
            </a:pPr>
            <a:r>
              <a:t>  ▸  AI drafts cut copy time 60%</a:t>
            </a:r>
          </a:p>
          <a:p>
            <a:pPr>
              <a:spcAft>
                <a:spcPts val="800"/>
              </a:spcAft>
              <a:defRPr sz="1500">
                <a:solidFill>
                  <a:srgbClr val="D0E8D8"/>
                </a:solidFill>
                <a:latin typeface="Calibri"/>
              </a:defRPr>
            </a:pPr>
            <a:r>
              <a:t>  ▸  Self-serve onboarding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26280" y="1645920"/>
            <a:ext cx="27432" cy="4114800"/>
          </a:xfrm>
          <a:prstGeom prst="rect">
            <a:avLst/>
          </a:prstGeom>
          <a:solidFill>
            <a:srgbClr val="4CD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CD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Strategic Priorities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645920" cy="45720"/>
          </a:xfrm>
          <a:prstGeom prst="rect">
            <a:avLst/>
          </a:prstGeom>
          <a:solidFill>
            <a:srgbClr val="4CD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931920" cy="2011680"/>
          </a:xfrm>
          <a:prstGeom prst="rect">
            <a:avLst/>
          </a:prstGeom>
          <a:solidFill>
            <a:srgbClr val="071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73152" cy="2011680"/>
          </a:xfrm>
          <a:prstGeom prst="rect">
            <a:avLst/>
          </a:prstGeom>
          <a:solidFill>
            <a:srgbClr val="4CD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D137"/>
                </a:solidFill>
                <a:latin typeface="Calibri"/>
              </a:defRPr>
            </a:pPr>
            <a:r>
              <a:t>Expand Shopify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945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E8D8"/>
                </a:solidFill>
                <a:latin typeface="Calibri"/>
              </a:defRPr>
            </a:pPr>
            <a:r>
              <a:t>Onboard 50 new stores by end of Q2 with autopilot selling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463040"/>
            <a:ext cx="3931920" cy="2011680"/>
          </a:xfrm>
          <a:prstGeom prst="rect">
            <a:avLst/>
          </a:prstGeom>
          <a:solidFill>
            <a:srgbClr val="071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4880" y="1463040"/>
            <a:ext cx="73152" cy="2011680"/>
          </a:xfrm>
          <a:prstGeom prst="rect">
            <a:avLst/>
          </a:prstGeom>
          <a:solidFill>
            <a:srgbClr val="4CD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1645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D137"/>
                </a:solidFill>
                <a:latin typeface="Calibri"/>
              </a:defRPr>
            </a:pPr>
            <a:r>
              <a:t>AI First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219456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E8D8"/>
                </a:solidFill>
                <a:latin typeface="Calibri"/>
              </a:defRPr>
            </a:pPr>
            <a:r>
              <a:t>Every customer touchpoint enhanced with AI drafts and follow-ups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40480"/>
            <a:ext cx="3931920" cy="2011680"/>
          </a:xfrm>
          <a:prstGeom prst="rect">
            <a:avLst/>
          </a:prstGeom>
          <a:solidFill>
            <a:srgbClr val="071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840480"/>
            <a:ext cx="73152" cy="2011680"/>
          </a:xfrm>
          <a:prstGeom prst="rect">
            <a:avLst/>
          </a:prstGeom>
          <a:solidFill>
            <a:srgbClr val="4CD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D137"/>
                </a:solidFill>
                <a:latin typeface="Calibri"/>
              </a:defRPr>
            </a:pPr>
            <a:r>
              <a:t>Omnichannel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5720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E8D8"/>
                </a:solidFill>
                <a:latin typeface="Calibri"/>
              </a:defRPr>
            </a:pPr>
            <a:r>
              <a:t>Unify WhatsApp, social, email, and ads into one pipeline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3840480"/>
            <a:ext cx="3931920" cy="2011680"/>
          </a:xfrm>
          <a:prstGeom prst="rect">
            <a:avLst/>
          </a:prstGeom>
          <a:solidFill>
            <a:srgbClr val="071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54880" y="3840480"/>
            <a:ext cx="73152" cy="2011680"/>
          </a:xfrm>
          <a:prstGeom prst="rect">
            <a:avLst/>
          </a:prstGeom>
          <a:solidFill>
            <a:srgbClr val="4CD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402336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D137"/>
                </a:solidFill>
                <a:latin typeface="Calibri"/>
              </a:defRPr>
            </a:pPr>
            <a:r>
              <a:t>Scale 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45720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0E8D8"/>
                </a:solidFill>
                <a:latin typeface="Calibri"/>
              </a:defRPr>
            </a:pPr>
            <a:r>
              <a:t>Self-serve + AI to handle 3x volume without 3x headcount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4CD137"/>
                </a:solidFill>
                <a:latin typeface="Georgia"/>
              </a:defRPr>
            </a:pPr>
            <a:r>
              <a:t>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6858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>
                <a:solidFill>
                  <a:srgbClr val="FFFFFF"/>
                </a:solidFill>
                <a:latin typeface="Georgia"/>
              </a:defRPr>
            </a:pPr>
            <a:r>
              <a:t>The best time to automate was yesterday. The second best time is now.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3891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E0C0"/>
                </a:solidFill>
                <a:latin typeface="Calibri"/>
              </a:defRPr>
            </a:pPr>
            <a:r>
              <a:t>— Operations Lead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5120640"/>
            <a:ext cx="2743200" cy="45720"/>
          </a:xfrm>
          <a:prstGeom prst="rect">
            <a:avLst/>
          </a:prstGeom>
          <a:solidFill>
            <a:srgbClr val="4CD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CD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6576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 Light"/>
              </a:defRPr>
            </a:pPr>
            <a:r>
              <a:t>Product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1645920" cy="45720"/>
          </a:xfrm>
          <a:prstGeom prst="rect">
            <a:avLst/>
          </a:prstGeom>
          <a:solidFill>
            <a:srgbClr val="4CD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D0E8D8"/>
                </a:solidFill>
                <a:latin typeface="Calibri"/>
              </a:defRPr>
            </a:pPr>
            <a:r>
              <a:t>  ▸  Launch social inbox v2</a:t>
            </a:r>
          </a:p>
          <a:p>
            <a:pPr>
              <a:spcAft>
                <a:spcPts val="1000"/>
              </a:spcAft>
              <a:defRPr sz="1700">
                <a:solidFill>
                  <a:srgbClr val="D0E8D8"/>
                </a:solidFill>
                <a:latin typeface="Calibri"/>
              </a:defRPr>
            </a:pPr>
            <a:r>
              <a:t>  ▸  Meta Ads auto-boost</a:t>
            </a:r>
          </a:p>
          <a:p>
            <a:pPr>
              <a:spcAft>
                <a:spcPts val="1000"/>
              </a:spcAft>
              <a:defRPr sz="1700">
                <a:solidFill>
                  <a:srgbClr val="D0E8D8"/>
                </a:solidFill>
                <a:latin typeface="Calibri"/>
              </a:defRPr>
            </a:pPr>
            <a:r>
              <a:t>  ▸  Calendar + booking sync</a:t>
            </a:r>
          </a:p>
          <a:p>
            <a:pPr>
              <a:spcAft>
                <a:spcPts val="1000"/>
              </a:spcAft>
              <a:defRPr sz="1700">
                <a:solidFill>
                  <a:srgbClr val="D0E8D8"/>
                </a:solidFill>
                <a:latin typeface="Calibri"/>
              </a:defRPr>
            </a:pPr>
            <a:r>
              <a:t>  ▸  Team analytics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303520" y="1280160"/>
            <a:ext cx="3474720" cy="4114800"/>
          </a:xfrm>
          <a:prstGeom prst="rect">
            <a:avLst/>
          </a:prstGeom>
          <a:solidFill>
            <a:srgbClr val="071A10"/>
          </a:solidFill>
          <a:ln w="12700">
            <a:solidFill>
              <a:srgbClr val="4CD1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0" y="29260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E0C0"/>
                </a:solidFill>
                <a:latin typeface="Calibri"/>
              </a:defRPr>
            </a:pPr>
            <a:r>
              <a:t>📷  Image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1EB9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CD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Calibri Light"/>
              </a:defRPr>
            </a:pPr>
            <a: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200400"/>
            <a:ext cx="2286000" cy="54864"/>
          </a:xfrm>
          <a:prstGeom prst="rect">
            <a:avLst/>
          </a:prstGeom>
          <a:solidFill>
            <a:srgbClr val="4CD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B0E0C0"/>
                </a:solidFill>
                <a:latin typeface="Calibri"/>
              </a:defRPr>
            </a:pPr>
            <a:r>
              <a:t>Zilo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0E8D8"/>
                </a:solidFill>
                <a:latin typeface="Calibri"/>
              </a:defRPr>
            </a:pPr>
            <a:r>
              <a:t>Lets grow together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