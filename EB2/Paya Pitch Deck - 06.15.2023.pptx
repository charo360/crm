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13"/>
  </p:notesMasterIdLst>
  <p:sldIdLst>
    <p:sldId id="256" r:id="rId3"/>
    <p:sldId id="258" r:id="rId4"/>
    <p:sldId id="257" r:id="rId5"/>
    <p:sldId id="259" r:id="rId6"/>
    <p:sldId id="260" r:id="rId7"/>
    <p:sldId id="261" r:id="rId8"/>
    <p:sldId id="272" r:id="rId9"/>
    <p:sldId id="265" r:id="rId10"/>
    <p:sldId id="264" r:id="rId11"/>
    <p:sldId id="269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Helvetica Neue" panose="02000503000000020004" pitchFamily="2" charset="0"/>
      <p:regular r:id="rId18"/>
      <p:bold r:id="rId19"/>
      <p:italic r:id="rId20"/>
      <p:boldItalic r:id="rId21"/>
    </p:embeddedFont>
    <p:embeddedFont>
      <p:font typeface="Helvetica Neue Light" panose="02000403000000020004" pitchFamily="2" charset="0"/>
      <p:regular r:id="rId22"/>
      <p:bold r:id="rId23"/>
      <p:italic r:id="rId24"/>
      <p:boldItalic r:id="rId25"/>
    </p:embeddedFont>
    <p:embeddedFont>
      <p:font typeface="Lato Light" panose="020F0502020204030203" pitchFamily="34" charset="0"/>
      <p:regular r:id="rId26"/>
      <p: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eth Everard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2B26"/>
    <a:srgbClr val="F2F2F2"/>
    <a:srgbClr val="E7805D"/>
    <a:srgbClr val="FFAC73"/>
    <a:srgbClr val="F2A268"/>
    <a:srgbClr val="EC9063"/>
    <a:srgbClr val="C6614E"/>
    <a:srgbClr val="A74A41"/>
    <a:srgbClr val="617985"/>
    <a:srgbClr val="51A1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7"/>
    <p:restoredTop sz="91431"/>
  </p:normalViewPr>
  <p:slideViewPr>
    <p:cSldViewPr snapToGrid="0">
      <p:cViewPr>
        <p:scale>
          <a:sx n="135" d="100"/>
          <a:sy n="135" d="100"/>
        </p:scale>
        <p:origin x="304" y="3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2-05T01:48:58.712" idx="1">
    <p:pos x="6000" y="0"/>
    <p:text>Added comments into slide notes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dc5881e582_2_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8" name="Google Shape;118;g1dc5881e582_2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c5881e582_2_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g1dc5881e582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56d73cd32_5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2056d73cd32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dc5881e582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g1dc5881e582_2_9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dc5881e582_2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1dc5881e582_2_18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dc5881e582_2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g1dc5881e582_2_2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Problem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eCom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 merchants want [better] access to capital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Banks want access to high quality and attractive yielding assets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Marketplace that empowers 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eCom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 SaaS companies to offer our loans to their customers at scale // and gives banks access to high quality/yielding assets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Double click on solution - our Moat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Our platform is (1) tech for 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eCom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Saas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, (2) data analytics and risk management systems, (3) access to capital at-scale (enabler to banks)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 scalable tech and data analytics unlocks the scalable low cost capital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Customer Quotes on our Solutions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[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TAM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 Movement of 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eCom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 money and product is 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financable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 with our product - today we target Amazon and Shopify, we also have an immediate known opportunity 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walmart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ebay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etc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, there is also social commerce (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tiktok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whatsapp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, voice) + whatever comes next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– because we are a scalable marketplace, we can apply to everyone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Unit Economics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 bank split, GG split, referral partner split (3%?)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 what that means for Gallop in dollars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&gt;&gt; self funding the growth 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bc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 it makes money…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GTM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 Include GTM on this page to show the immediate addressable revenue opportunity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 Case study on the left side // right side just have logos of partners &gt; big number of total customers &gt; big number of implied revenue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 i.e. Stay Tuned has 30k customers * 6% conversion rate based on prior partners * $100k per loan * x% margin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Why will we win? Reminder why we are the best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&gt; [</a:t>
            </a:r>
            <a:r>
              <a:rPr lang="en" sz="1200" dirty="0" err="1">
                <a:latin typeface="Calibri"/>
                <a:ea typeface="Calibri"/>
                <a:cs typeface="Calibri"/>
                <a:sym typeface="Calibri"/>
              </a:rPr>
              <a:t>shane</a:t>
            </a: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 has notes on the page]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alibri"/>
                <a:ea typeface="Calibri"/>
                <a:cs typeface="Calibri"/>
                <a:sym typeface="Calibri"/>
              </a:rPr>
              <a:t>Team / Advisors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dc5881e582_2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g1dc5881e582_2_38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dc5881e582_2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g1dc5881e582_2_5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dc5881e582_2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1dc5881e582_2_4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eCom merchants want [better] access to capital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Banks want access to high quality and attractive yielding assets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Marketplace that empowers eCom SaaS companies to offer our loans to their customers at scale // and gives banks access to high quality/yielding assets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Double click on solution - our Moat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Our platform is (1) tech for eCom Saas, (2) data analytics and risk management systems, (3) access to capital at-scale (enabler to banks)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 scalable tech and data analytics unlocks the scalable low cost capital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Customer Quotes on our Solutions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[ 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 Movement of eCom money and product is financable with our product - today we target Amazon and Shopify, we also have an immediate known opportunity walmart/ebay/etc, there is also social commerce (tiktok, whatsapp, voice) + whatever comes 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– because we are a scalable marketplace, we can apply to everyone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Unit Economics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 bank split, GG split, referral partner split (3%?)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 what that means for Gallop in dollars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&gt;&gt; self funding the growth bc it makes money…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GTM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 Include GTM on this page to show the immediate addressable revenue opportunity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 Case study on the left side // right side just have logos of partners &gt; big number of total customers &gt; big number of implied revenue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 i.e. Stay Tuned has 30k customers * 6% conversion rate based on prior partners * $100k per loan * x% margin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Why will we win? Reminder why we are the best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&gt; [shane has notes on the page]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Team / Advisors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dc5881e582_2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g1dc5881e582_2_6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1143000" y="841772"/>
            <a:ext cx="6858000" cy="179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1.5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041377" y="315222"/>
            <a:ext cx="7061247" cy="595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1018173" y="964565"/>
            <a:ext cx="7107654" cy="29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914400" lvl="1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1371600" lvl="2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1828800" lvl="3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2286000" lvl="4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640203" y="524772"/>
            <a:ext cx="201588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1.4">
  <p:cSld name="Basic 1.4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548091" y="1253305"/>
            <a:ext cx="8047819" cy="2009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914400" lvl="1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1371600" lvl="2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1828800" lvl="3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2286000" lvl="4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1036561" y="316836"/>
            <a:ext cx="7070878" cy="72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640203" y="524772"/>
            <a:ext cx="201588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1.5 copy">
  <p:cSld name="Basic 1.5 copy">
    <p:bg>
      <p:bgPr>
        <a:solidFill>
          <a:srgbClr val="00000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1041377" y="315222"/>
            <a:ext cx="7061247" cy="595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1018173" y="964565"/>
            <a:ext cx="7107654" cy="29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914400" lvl="1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1371600" lvl="2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1828800" lvl="3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2286000" lvl="4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40203" y="524772"/>
            <a:ext cx="201588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w">
  <p:cSld name="low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/>
          <p:nvPr/>
        </p:nvSpPr>
        <p:spPr>
          <a:xfrm>
            <a:off x="8600339" y="4658519"/>
            <a:ext cx="332123" cy="332123"/>
          </a:xfrm>
          <a:prstGeom prst="ellipse">
            <a:avLst/>
          </a:prstGeom>
          <a:solidFill>
            <a:srgbClr val="4447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C8C"/>
              </a:buClr>
              <a:buSzPts val="1100"/>
              <a:buFont typeface="Helvetica Neue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665607" y="4736473"/>
            <a:ext cx="201589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sz="1800">
                <a:solidFill>
                  <a:srgbClr val="888888"/>
                </a:solidFill>
              </a:defRPr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629840" y="273844"/>
            <a:ext cx="7886701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629840" y="1260872"/>
            <a:ext cx="3868342" cy="61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629840" y="1878806"/>
            <a:ext cx="386834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b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629840" y="342900"/>
            <a:ext cx="2949179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3887390" y="740569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body" idx="2"/>
          </p:nvPr>
        </p:nvSpPr>
        <p:spPr>
          <a:xfrm>
            <a:off x="629840" y="1543050"/>
            <a:ext cx="2949179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629840" y="342900"/>
            <a:ext cx="2949179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>
            <a:spLocks noGrp="1"/>
          </p:cNvSpPr>
          <p:nvPr>
            <p:ph type="pic" idx="2"/>
          </p:nvPr>
        </p:nvSpPr>
        <p:spPr>
          <a:xfrm>
            <a:off x="3887390" y="740569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629840" y="1543050"/>
            <a:ext cx="2949179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80"/>
            <a:ext cx="3263504" cy="788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321412" y="4811085"/>
            <a:ext cx="193939" cy="1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12" Type="http://schemas.microsoft.com/office/2007/relationships/hdphoto" Target="../media/hdphoto3.wdp"/><Relationship Id="rId1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5" Type="http://schemas.microsoft.com/office/2007/relationships/hdphoto" Target="../media/hdphoto4.wdp"/><Relationship Id="rId10" Type="http://schemas.openxmlformats.org/officeDocument/2006/relationships/image" Target="../media/image14.jpeg"/><Relationship Id="rId4" Type="http://schemas.openxmlformats.org/officeDocument/2006/relationships/image" Target="../media/image10.png"/><Relationship Id="rId9" Type="http://schemas.microsoft.com/office/2007/relationships/hdphoto" Target="../media/hdphoto2.wdp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">
              <a:schemeClr val="accent2">
                <a:lumMod val="50000"/>
              </a:schemeClr>
            </a:gs>
            <a:gs pos="99000">
              <a:srgbClr val="E7805D"/>
            </a:gs>
            <a:gs pos="68000">
              <a:srgbClr val="C6614E"/>
            </a:gs>
            <a:gs pos="26000">
              <a:srgbClr val="A74A41"/>
            </a:gs>
          </a:gsLst>
          <a:lin ang="4017170" scaled="0"/>
        </a:gra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>
            <a:spLocks noGrp="1"/>
          </p:cNvSpPr>
          <p:nvPr>
            <p:ph type="subTitle" idx="4294967295"/>
          </p:nvPr>
        </p:nvSpPr>
        <p:spPr>
          <a:xfrm>
            <a:off x="1143000" y="3106869"/>
            <a:ext cx="6858000" cy="67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 fontScale="6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2900" b="0" i="0" u="none" strike="noStrike" cap="none" dirty="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Lending technology that powers Kenya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lang="en-US" sz="1800" dirty="0">
              <a:solidFill>
                <a:srgbClr val="FFFFFF"/>
              </a:solidFill>
              <a:latin typeface="Helvetica Neue Light"/>
              <a:ea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lang="en-US" sz="1300" dirty="0">
              <a:solidFill>
                <a:srgbClr val="FFFFFF"/>
              </a:solidFill>
              <a:latin typeface="Helvetica Neue Light"/>
              <a:ea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300" dirty="0">
                <a:solidFill>
                  <a:srgbClr val="FFFFFF"/>
                </a:solidFill>
                <a:latin typeface="Helvetica Neue Light"/>
                <a:ea typeface="Helvetica Neue Light"/>
                <a:sym typeface="Helvetica Neue Light"/>
              </a:rPr>
              <a:t>Paya Ventures, Limited</a:t>
            </a:r>
            <a:endParaRPr sz="1500" dirty="0"/>
          </a:p>
        </p:txBody>
      </p:sp>
      <p:sp>
        <p:nvSpPr>
          <p:cNvPr id="121" name="Google Shape;121;p29"/>
          <p:cNvSpPr txBox="1"/>
          <p:nvPr/>
        </p:nvSpPr>
        <p:spPr>
          <a:xfrm>
            <a:off x="638931" y="1444345"/>
            <a:ext cx="7866138" cy="1223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Helvetica Neue Light"/>
              <a:buNone/>
            </a:pPr>
            <a:r>
              <a:rPr lang="en" sz="7500" b="1" u="none" strike="noStrike" cap="none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 Light"/>
              </a:rPr>
              <a:t>PAYA</a:t>
            </a:r>
            <a:endParaRPr sz="11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22" name="Google Shape;122;p29"/>
          <p:cNvCxnSpPr/>
          <p:nvPr/>
        </p:nvCxnSpPr>
        <p:spPr>
          <a:xfrm>
            <a:off x="3952821" y="2883962"/>
            <a:ext cx="1239664" cy="0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1000">
              <a:srgbClr val="E7805D"/>
            </a:gs>
            <a:gs pos="97000">
              <a:srgbClr val="F2A268"/>
            </a:gs>
            <a:gs pos="0">
              <a:srgbClr val="C6614E"/>
            </a:gs>
          </a:gsLst>
          <a:lin ang="4017170" scaled="0"/>
        </a:gra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subTitle" idx="4294967295"/>
          </p:nvPr>
        </p:nvSpPr>
        <p:spPr>
          <a:xfrm>
            <a:off x="2119750" y="2449832"/>
            <a:ext cx="6603000" cy="22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" sz="6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Consumer loans are in demand.</a:t>
            </a:r>
            <a:endParaRPr dirty="0"/>
          </a:p>
        </p:txBody>
      </p:sp>
      <p:sp>
        <p:nvSpPr>
          <p:cNvPr id="134" name="Google Shape;134;p31"/>
          <p:cNvSpPr txBox="1"/>
          <p:nvPr/>
        </p:nvSpPr>
        <p:spPr>
          <a:xfrm>
            <a:off x="451989" y="883753"/>
            <a:ext cx="36858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</a:pPr>
            <a:r>
              <a:rPr lang="en-US" sz="900" dirty="0">
                <a:solidFill>
                  <a:srgbClr val="FFFFFF"/>
                </a:solidFill>
                <a:latin typeface="Helvetica Neue Light"/>
                <a:ea typeface="Helvetica Neue Light"/>
                <a:sym typeface="Helvetica Neue Light"/>
              </a:rPr>
              <a:t>Consumer lending is growing at rapid levels in Kenya, and the income benefit is attractive to financial institutions and traditional banks. Consumer lending via ecommerce channels and e-retail, is where the next niche penetrable market is at. But larger institutions in general, and financing capital more specifically, aren’t able to easily access these consumers. </a:t>
            </a:r>
            <a:endParaRPr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805D"/>
            </a:gs>
            <a:gs pos="65000">
              <a:srgbClr val="FFAC73"/>
            </a:gs>
          </a:gsLst>
          <a:lin ang="4017007" scaled="0"/>
        </a:gra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/>
        </p:nvSpPr>
        <p:spPr>
          <a:xfrm>
            <a:off x="1133887" y="2411646"/>
            <a:ext cx="267286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</a:pPr>
            <a:r>
              <a:rPr lang="en-US" sz="24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28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</a:pPr>
            <a:r>
              <a:rPr lang="en-US" sz="18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Consumer lending is continuously growing, and the demand on ecommerce channels is high.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A612A-80A8-08FF-FC35-0A75AB3C4395}"/>
              </a:ext>
            </a:extLst>
          </p:cNvPr>
          <p:cNvSpPr txBox="1"/>
          <p:nvPr/>
        </p:nvSpPr>
        <p:spPr>
          <a:xfrm>
            <a:off x="5223413" y="2411646"/>
            <a:ext cx="27867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</a:pPr>
            <a:r>
              <a:rPr lang="en-US" sz="24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Capital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</a:pPr>
            <a:r>
              <a:rPr lang="en-US" sz="1800" dirty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Financial institutions can access the markets that will give them high yields.</a:t>
            </a: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89436BFB-02AF-41C9-73E4-0F6EC5C51ACD}"/>
              </a:ext>
            </a:extLst>
          </p:cNvPr>
          <p:cNvSpPr txBox="1"/>
          <p:nvPr/>
        </p:nvSpPr>
        <p:spPr>
          <a:xfrm>
            <a:off x="2362518" y="683020"/>
            <a:ext cx="4418964" cy="117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3600" b="1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 Opportunity </a:t>
            </a:r>
            <a:endParaRPr lang="en" sz="2800" b="1" dirty="0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3600" b="1" i="0" u="none" strike="noStrike" cap="none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/>
          <p:nvPr/>
        </p:nvSpPr>
        <p:spPr>
          <a:xfrm>
            <a:off x="4917590" y="1738120"/>
            <a:ext cx="3840163" cy="2185598"/>
          </a:xfrm>
          <a:prstGeom prst="roundRect">
            <a:avLst>
              <a:gd name="adj" fmla="val 47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2"/>
          <p:cNvSpPr/>
          <p:nvPr/>
        </p:nvSpPr>
        <p:spPr>
          <a:xfrm>
            <a:off x="384841" y="1738166"/>
            <a:ext cx="3840164" cy="2185598"/>
          </a:xfrm>
          <a:prstGeom prst="roundRect">
            <a:avLst>
              <a:gd name="adj" fmla="val 47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2"/>
          <p:cNvSpPr txBox="1"/>
          <p:nvPr/>
        </p:nvSpPr>
        <p:spPr>
          <a:xfrm>
            <a:off x="384472" y="590538"/>
            <a:ext cx="7785981" cy="39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100"/>
              <a:buFont typeface="Helvetica Neue"/>
              <a:buNone/>
            </a:pPr>
            <a:r>
              <a:rPr lang="en" sz="21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 to affordable capital, and access to high yield loans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43" name="Google Shape;143;p32"/>
          <p:cNvSpPr txBox="1"/>
          <p:nvPr/>
        </p:nvSpPr>
        <p:spPr>
          <a:xfrm>
            <a:off x="653651" y="1921521"/>
            <a:ext cx="2559265" cy="31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1700"/>
              <a:buFont typeface="Helvetica Neue"/>
              <a:buNone/>
            </a:pPr>
            <a:r>
              <a:rPr lang="en" sz="1700" b="1" i="0" u="none" strike="noStrike" cap="none" dirty="0">
                <a:solidFill>
                  <a:srgbClr val="E7805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Borrowers</a:t>
            </a:r>
            <a:endParaRPr sz="1100" dirty="0">
              <a:solidFill>
                <a:srgbClr val="E7805D"/>
              </a:solidFill>
            </a:endParaRPr>
          </a:p>
        </p:txBody>
      </p:sp>
      <p:sp>
        <p:nvSpPr>
          <p:cNvPr id="144" name="Google Shape;144;p32"/>
          <p:cNvSpPr txBox="1"/>
          <p:nvPr/>
        </p:nvSpPr>
        <p:spPr>
          <a:xfrm>
            <a:off x="396022" y="193448"/>
            <a:ext cx="3990821" cy="28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14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</a:t>
            </a:r>
            <a:r>
              <a:rPr lang="en" sz="14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47" name="Google Shape;147;p32"/>
          <p:cNvSpPr txBox="1"/>
          <p:nvPr/>
        </p:nvSpPr>
        <p:spPr>
          <a:xfrm>
            <a:off x="1262599" y="3382500"/>
            <a:ext cx="119229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900"/>
              <a:buFont typeface="Helvetica Neue Light"/>
              <a:buNone/>
            </a:pPr>
            <a:r>
              <a:rPr lang="en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Average rate is 35%</a:t>
            </a:r>
            <a:endParaRPr sz="1100" dirty="0">
              <a:solidFill>
                <a:srgbClr val="632B26"/>
              </a:solidFill>
            </a:endParaRPr>
          </a:p>
        </p:txBody>
      </p:sp>
      <p:pic>
        <p:nvPicPr>
          <p:cNvPr id="148" name="Google Shape;148;p32" descr="Image"/>
          <p:cNvPicPr preferRelativeResize="0"/>
          <p:nvPr/>
        </p:nvPicPr>
        <p:blipFill rotWithShape="1">
          <a:blip r:embed="rId3">
            <a:alphaModFix/>
          </a:blip>
          <a:srcRect l="4" r="43287" b="256"/>
          <a:stretch/>
        </p:blipFill>
        <p:spPr>
          <a:xfrm>
            <a:off x="2843482" y="2441675"/>
            <a:ext cx="1381424" cy="1482181"/>
          </a:xfrm>
          <a:custGeom>
            <a:avLst/>
            <a:gdLst/>
            <a:ahLst/>
            <a:cxnLst/>
            <a:rect l="l" t="t" r="r" b="b"/>
            <a:pathLst>
              <a:path w="21597" h="21600" extrusionOk="0">
                <a:moveTo>
                  <a:pt x="0" y="0"/>
                </a:moveTo>
                <a:lnTo>
                  <a:pt x="0" y="21600"/>
                </a:lnTo>
                <a:lnTo>
                  <a:pt x="19442" y="21600"/>
                </a:lnTo>
                <a:cubicBezTo>
                  <a:pt x="20075" y="21600"/>
                  <a:pt x="20455" y="21599"/>
                  <a:pt x="20708" y="21500"/>
                </a:cubicBezTo>
                <a:cubicBezTo>
                  <a:pt x="21073" y="21376"/>
                  <a:pt x="21361" y="21107"/>
                  <a:pt x="21494" y="20767"/>
                </a:cubicBezTo>
                <a:cubicBezTo>
                  <a:pt x="21600" y="20531"/>
                  <a:pt x="21597" y="20177"/>
                  <a:pt x="21597" y="19587"/>
                </a:cubicBezTo>
                <a:lnTo>
                  <a:pt x="21597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49" name="Google Shape;149;p32" descr="Image"/>
          <p:cNvPicPr preferRelativeResize="0"/>
          <p:nvPr/>
        </p:nvPicPr>
        <p:blipFill rotWithShape="1">
          <a:blip r:embed="rId4">
            <a:alphaModFix/>
          </a:blip>
          <a:srcRect r="33905" b="4494"/>
          <a:stretch/>
        </p:blipFill>
        <p:spPr>
          <a:xfrm>
            <a:off x="6998531" y="2228176"/>
            <a:ext cx="1760628" cy="1695634"/>
          </a:xfrm>
          <a:custGeom>
            <a:avLst/>
            <a:gdLst/>
            <a:ahLst/>
            <a:cxnLst/>
            <a:rect l="l" t="t" r="r" b="b"/>
            <a:pathLst>
              <a:path w="21597" h="21600" extrusionOk="0">
                <a:moveTo>
                  <a:pt x="0" y="0"/>
                </a:moveTo>
                <a:lnTo>
                  <a:pt x="0" y="21600"/>
                </a:lnTo>
                <a:lnTo>
                  <a:pt x="19907" y="21600"/>
                </a:lnTo>
                <a:cubicBezTo>
                  <a:pt x="20403" y="21600"/>
                  <a:pt x="20701" y="21599"/>
                  <a:pt x="20900" y="21513"/>
                </a:cubicBezTo>
                <a:cubicBezTo>
                  <a:pt x="21186" y="21405"/>
                  <a:pt x="21413" y="21169"/>
                  <a:pt x="21517" y="20872"/>
                </a:cubicBezTo>
                <a:cubicBezTo>
                  <a:pt x="21600" y="20666"/>
                  <a:pt x="21597" y="20356"/>
                  <a:pt x="21597" y="19841"/>
                </a:cubicBezTo>
                <a:lnTo>
                  <a:pt x="21597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0" name="Google Shape;150;p32"/>
          <p:cNvSpPr txBox="1"/>
          <p:nvPr/>
        </p:nvSpPr>
        <p:spPr>
          <a:xfrm>
            <a:off x="5230153" y="1913780"/>
            <a:ext cx="2940300" cy="33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EB4"/>
              </a:buClr>
              <a:buSzPts val="1800"/>
              <a:buFont typeface="Helvetica Neue"/>
              <a:buNone/>
            </a:pPr>
            <a:r>
              <a:rPr lang="en" sz="1800" b="1" i="0" u="none" strike="noStrike" cap="none" dirty="0">
                <a:solidFill>
                  <a:srgbClr val="A74A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Banks</a:t>
            </a:r>
            <a:endParaRPr sz="1100" dirty="0">
              <a:solidFill>
                <a:srgbClr val="A74A41"/>
              </a:solidFill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792201" y="3375731"/>
            <a:ext cx="1204923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900"/>
              <a:buFont typeface="Helvetica Neue Light"/>
              <a:buNone/>
            </a:pPr>
            <a:r>
              <a:rPr lang="en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Average return is 13%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717499" y="3321600"/>
            <a:ext cx="545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1700"/>
              <a:buFont typeface="Helvetica Neue"/>
              <a:buNone/>
            </a:pPr>
            <a:r>
              <a:rPr lang="en" sz="17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35%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54" name="Google Shape;154;p32"/>
          <p:cNvSpPr txBox="1"/>
          <p:nvPr/>
        </p:nvSpPr>
        <p:spPr>
          <a:xfrm>
            <a:off x="5263497" y="3311425"/>
            <a:ext cx="54229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DB5"/>
              </a:buClr>
              <a:buSzPts val="1700"/>
              <a:buFont typeface="Helvetica Neue"/>
              <a:buNone/>
            </a:pPr>
            <a:r>
              <a:rPr lang="en" sz="17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r>
              <a:rPr lang="en" sz="17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%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55" name="Google Shape;155;p32"/>
          <p:cNvSpPr txBox="1"/>
          <p:nvPr/>
        </p:nvSpPr>
        <p:spPr>
          <a:xfrm>
            <a:off x="681102" y="2439158"/>
            <a:ext cx="1856100" cy="79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Helvetica Neue Light"/>
              <a:buNone/>
            </a:pPr>
            <a:r>
              <a:rPr lang="en" sz="12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New </a:t>
            </a:r>
            <a:r>
              <a:rPr lang="en" sz="12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</a:t>
            </a:r>
            <a:r>
              <a:rPr lang="en" sz="12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arkets and ecommerce retailers create a demand for financing capital.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56" name="Google Shape;156;p32"/>
          <p:cNvSpPr txBox="1"/>
          <p:nvPr/>
        </p:nvSpPr>
        <p:spPr>
          <a:xfrm>
            <a:off x="5228162" y="2431604"/>
            <a:ext cx="2072407" cy="79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Helvetica Neue Light"/>
              <a:buNone/>
            </a:pPr>
            <a:r>
              <a:rPr lang="en" sz="12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Want </a:t>
            </a: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access </a:t>
            </a:r>
            <a:r>
              <a:rPr lang="en" sz="12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"/>
                <a:sym typeface="Helvetica Neue Light"/>
              </a:rPr>
              <a:t>new loan sectors and new markets. Finding higher than average yield is a challenge.</a:t>
            </a:r>
            <a:endParaRPr sz="1100" dirty="0">
              <a:solidFill>
                <a:srgbClr val="632B2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/>
          <p:nvPr/>
        </p:nvSpPr>
        <p:spPr>
          <a:xfrm>
            <a:off x="3260681" y="3847693"/>
            <a:ext cx="2627734" cy="1032665"/>
          </a:xfrm>
          <a:prstGeom prst="roundRect">
            <a:avLst>
              <a:gd name="adj" fmla="val 28372"/>
            </a:avLst>
          </a:prstGeom>
          <a:solidFill>
            <a:srgbClr val="FFFFFF"/>
          </a:solidFill>
          <a:ln>
            <a:noFill/>
          </a:ln>
          <a:effectLst>
            <a:outerShdw blurRad="571500" dist="390271" dir="5400000" rotWithShape="0">
              <a:srgbClr val="000000">
                <a:alpha val="7058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3"/>
          <p:cNvSpPr/>
          <p:nvPr/>
        </p:nvSpPr>
        <p:spPr>
          <a:xfrm>
            <a:off x="385700" y="1736525"/>
            <a:ext cx="2151900" cy="19533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571500" dist="390271" dir="5400000" rotWithShape="0">
              <a:srgbClr val="000000">
                <a:alpha val="7058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3"/>
          <p:cNvSpPr/>
          <p:nvPr/>
        </p:nvSpPr>
        <p:spPr>
          <a:xfrm>
            <a:off x="6667658" y="1664797"/>
            <a:ext cx="2151900" cy="19533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>
            <a:outerShdw blurRad="571500" dist="390271" dir="5400000" rotWithShape="0">
              <a:srgbClr val="000000">
                <a:alpha val="7058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3"/>
          <p:cNvSpPr txBox="1"/>
          <p:nvPr/>
        </p:nvSpPr>
        <p:spPr>
          <a:xfrm>
            <a:off x="384472" y="590538"/>
            <a:ext cx="7684261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100"/>
              <a:buFont typeface="Helvetica Neue"/>
              <a:buNone/>
            </a:pPr>
            <a:r>
              <a:rPr lang="en" sz="21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product that allows consumers to apply for a loan in 2 minutes, and finance their payments over time.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65" name="Google Shape;165;p33"/>
          <p:cNvSpPr txBox="1"/>
          <p:nvPr/>
        </p:nvSpPr>
        <p:spPr>
          <a:xfrm>
            <a:off x="396022" y="193448"/>
            <a:ext cx="3990821" cy="28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14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</a:t>
            </a:r>
            <a:r>
              <a:rPr lang="en" sz="14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67" name="Google Shape;167;p33"/>
          <p:cNvSpPr txBox="1"/>
          <p:nvPr/>
        </p:nvSpPr>
        <p:spPr>
          <a:xfrm>
            <a:off x="3498577" y="4358136"/>
            <a:ext cx="2151942" cy="392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100"/>
              <a:buFont typeface="Helvetica Neue Light"/>
              <a:buNone/>
            </a:pPr>
            <a:r>
              <a:rPr lang="en" sz="11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eCommerce marketplaces</a:t>
            </a:r>
            <a:endParaRPr lang="en" sz="1100" b="0" i="0" u="none" strike="noStrike" cap="none" dirty="0">
              <a:solidFill>
                <a:srgbClr val="632B26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100"/>
              <a:buFont typeface="Helvetica Neue Light"/>
              <a:buNone/>
            </a:pPr>
            <a:r>
              <a:rPr lang="en" sz="1100" dirty="0">
                <a:solidFill>
                  <a:srgbClr val="632B26"/>
                </a:solidFill>
                <a:latin typeface="Helvetica Neue Light"/>
                <a:ea typeface="Helvetica Neue Light"/>
                <a:sym typeface="Helvetica Neue Light"/>
              </a:rPr>
              <a:t>Share revenue from referrals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68" name="Google Shape;168;p33"/>
          <p:cNvSpPr txBox="1"/>
          <p:nvPr/>
        </p:nvSpPr>
        <p:spPr>
          <a:xfrm>
            <a:off x="3939590" y="4050014"/>
            <a:ext cx="1607626" cy="226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400"/>
              <a:buFont typeface="Helvetica Neue"/>
              <a:buNone/>
            </a:pPr>
            <a:r>
              <a:rPr lang="en" sz="14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Originators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69" name="Google Shape;169;p33"/>
          <p:cNvSpPr txBox="1"/>
          <p:nvPr/>
        </p:nvSpPr>
        <p:spPr>
          <a:xfrm>
            <a:off x="947605" y="1849033"/>
            <a:ext cx="14481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1400"/>
              <a:buFont typeface="Helvetica Neue"/>
              <a:buNone/>
            </a:pPr>
            <a:r>
              <a:rPr lang="en" sz="1400" b="1" i="0" u="none" strike="noStrike" cap="none" dirty="0">
                <a:solidFill>
                  <a:srgbClr val="EC90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Borrowers</a:t>
            </a:r>
            <a:endParaRPr sz="1100" dirty="0">
              <a:solidFill>
                <a:srgbClr val="EC9063"/>
              </a:solidFill>
            </a:endParaRPr>
          </a:p>
        </p:txBody>
      </p:sp>
      <p:grpSp>
        <p:nvGrpSpPr>
          <p:cNvPr id="170" name="Google Shape;170;p33"/>
          <p:cNvGrpSpPr/>
          <p:nvPr/>
        </p:nvGrpSpPr>
        <p:grpSpPr>
          <a:xfrm>
            <a:off x="6438824" y="1980428"/>
            <a:ext cx="3075101" cy="2011581"/>
            <a:chOff x="0" y="178434"/>
            <a:chExt cx="4100133" cy="2682107"/>
          </a:xfrm>
        </p:grpSpPr>
        <p:sp>
          <p:nvSpPr>
            <p:cNvPr id="171" name="Google Shape;171;p33"/>
            <p:cNvSpPr/>
            <p:nvPr/>
          </p:nvSpPr>
          <p:spPr>
            <a:xfrm>
              <a:off x="0" y="178434"/>
              <a:ext cx="2399100" cy="1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9EB4"/>
                </a:buClr>
                <a:buSzPts val="1400"/>
                <a:buFont typeface="Helvetica Neue"/>
                <a:buNone/>
              </a:pPr>
              <a:r>
                <a:rPr lang="en" sz="1400" b="1" i="0" u="none" strike="noStrike" cap="none" dirty="0">
                  <a:solidFill>
                    <a:srgbClr val="C6614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Banks</a:t>
              </a:r>
              <a:endParaRPr sz="1100" dirty="0">
                <a:solidFill>
                  <a:srgbClr val="C6614E"/>
                </a:solidFill>
              </a:endParaRPr>
            </a:p>
          </p:txBody>
        </p:sp>
        <p:cxnSp>
          <p:nvCxnSpPr>
            <p:cNvPr id="172" name="Google Shape;172;p33"/>
            <p:cNvCxnSpPr/>
            <p:nvPr/>
          </p:nvCxnSpPr>
          <p:spPr>
            <a:xfrm>
              <a:off x="2830132" y="1590540"/>
              <a:ext cx="1270001" cy="1270001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grpSp>
        <p:nvGrpSpPr>
          <p:cNvPr id="173" name="Google Shape;173;p33"/>
          <p:cNvGrpSpPr/>
          <p:nvPr/>
        </p:nvGrpSpPr>
        <p:grpSpPr>
          <a:xfrm>
            <a:off x="615076" y="1844423"/>
            <a:ext cx="281194" cy="281195"/>
            <a:chOff x="0" y="0"/>
            <a:chExt cx="374924" cy="374924"/>
          </a:xfrm>
        </p:grpSpPr>
        <p:sp>
          <p:nvSpPr>
            <p:cNvPr id="174" name="Google Shape;174;p33"/>
            <p:cNvSpPr/>
            <p:nvPr/>
          </p:nvSpPr>
          <p:spPr>
            <a:xfrm>
              <a:off x="0" y="0"/>
              <a:ext cx="374924" cy="374924"/>
            </a:xfrm>
            <a:prstGeom prst="ellipse">
              <a:avLst/>
            </a:prstGeom>
            <a:solidFill>
              <a:srgbClr val="547675">
                <a:alpha val="2117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 dirty="0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3"/>
            <p:cNvSpPr/>
            <p:nvPr/>
          </p:nvSpPr>
          <p:spPr>
            <a:xfrm>
              <a:off x="98694" y="116338"/>
              <a:ext cx="177535" cy="1422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9248" y="0"/>
                  </a:moveTo>
                  <a:cubicBezTo>
                    <a:pt x="2308" y="0"/>
                    <a:pt x="2308" y="0"/>
                    <a:pt x="2308" y="0"/>
                  </a:cubicBezTo>
                  <a:cubicBezTo>
                    <a:pt x="740" y="0"/>
                    <a:pt x="0" y="1026"/>
                    <a:pt x="0" y="2430"/>
                  </a:cubicBezTo>
                  <a:cubicBezTo>
                    <a:pt x="0" y="18738"/>
                    <a:pt x="0" y="18738"/>
                    <a:pt x="0" y="18738"/>
                  </a:cubicBezTo>
                  <a:cubicBezTo>
                    <a:pt x="0" y="20142"/>
                    <a:pt x="740" y="21600"/>
                    <a:pt x="2308" y="21600"/>
                  </a:cubicBezTo>
                  <a:cubicBezTo>
                    <a:pt x="19248" y="21600"/>
                    <a:pt x="19248" y="21600"/>
                    <a:pt x="19248" y="21600"/>
                  </a:cubicBezTo>
                  <a:cubicBezTo>
                    <a:pt x="20424" y="21600"/>
                    <a:pt x="21600" y="20142"/>
                    <a:pt x="21600" y="18738"/>
                  </a:cubicBezTo>
                  <a:cubicBezTo>
                    <a:pt x="21600" y="2430"/>
                    <a:pt x="21600" y="2430"/>
                    <a:pt x="21600" y="2430"/>
                  </a:cubicBezTo>
                  <a:cubicBezTo>
                    <a:pt x="21600" y="1026"/>
                    <a:pt x="20424" y="0"/>
                    <a:pt x="19248" y="0"/>
                  </a:cubicBezTo>
                  <a:close/>
                  <a:moveTo>
                    <a:pt x="4965" y="2430"/>
                  </a:moveTo>
                  <a:cubicBezTo>
                    <a:pt x="5356" y="2430"/>
                    <a:pt x="5748" y="2916"/>
                    <a:pt x="5748" y="3402"/>
                  </a:cubicBezTo>
                  <a:cubicBezTo>
                    <a:pt x="5748" y="3888"/>
                    <a:pt x="5356" y="4320"/>
                    <a:pt x="4965" y="4320"/>
                  </a:cubicBezTo>
                  <a:cubicBezTo>
                    <a:pt x="4616" y="4320"/>
                    <a:pt x="4224" y="3888"/>
                    <a:pt x="4224" y="3402"/>
                  </a:cubicBezTo>
                  <a:cubicBezTo>
                    <a:pt x="4224" y="2916"/>
                    <a:pt x="4616" y="2430"/>
                    <a:pt x="4965" y="2430"/>
                  </a:cubicBezTo>
                  <a:close/>
                  <a:moveTo>
                    <a:pt x="1916" y="3402"/>
                  </a:moveTo>
                  <a:cubicBezTo>
                    <a:pt x="1916" y="2916"/>
                    <a:pt x="2308" y="2430"/>
                    <a:pt x="2656" y="2430"/>
                  </a:cubicBezTo>
                  <a:cubicBezTo>
                    <a:pt x="3048" y="2430"/>
                    <a:pt x="3440" y="2916"/>
                    <a:pt x="3440" y="3402"/>
                  </a:cubicBezTo>
                  <a:cubicBezTo>
                    <a:pt x="3440" y="3888"/>
                    <a:pt x="3048" y="4320"/>
                    <a:pt x="2656" y="4320"/>
                  </a:cubicBezTo>
                  <a:cubicBezTo>
                    <a:pt x="2308" y="4320"/>
                    <a:pt x="1916" y="3888"/>
                    <a:pt x="1916" y="3402"/>
                  </a:cubicBezTo>
                  <a:close/>
                  <a:moveTo>
                    <a:pt x="19248" y="18738"/>
                  </a:moveTo>
                  <a:cubicBezTo>
                    <a:pt x="1916" y="18738"/>
                    <a:pt x="1916" y="18738"/>
                    <a:pt x="1916" y="18738"/>
                  </a:cubicBezTo>
                  <a:cubicBezTo>
                    <a:pt x="1916" y="6264"/>
                    <a:pt x="1916" y="6264"/>
                    <a:pt x="1916" y="6264"/>
                  </a:cubicBezTo>
                  <a:cubicBezTo>
                    <a:pt x="19248" y="6264"/>
                    <a:pt x="19248" y="6264"/>
                    <a:pt x="19248" y="6264"/>
                  </a:cubicBezTo>
                  <a:lnTo>
                    <a:pt x="19248" y="18738"/>
                  </a:lnTo>
                  <a:close/>
                  <a:moveTo>
                    <a:pt x="19248" y="4320"/>
                  </a:moveTo>
                  <a:cubicBezTo>
                    <a:pt x="6532" y="4320"/>
                    <a:pt x="6532" y="4320"/>
                    <a:pt x="6532" y="4320"/>
                  </a:cubicBezTo>
                  <a:cubicBezTo>
                    <a:pt x="6532" y="2430"/>
                    <a:pt x="6532" y="2430"/>
                    <a:pt x="6532" y="2430"/>
                  </a:cubicBezTo>
                  <a:cubicBezTo>
                    <a:pt x="19248" y="2430"/>
                    <a:pt x="19248" y="2430"/>
                    <a:pt x="19248" y="2430"/>
                  </a:cubicBezTo>
                  <a:lnTo>
                    <a:pt x="19248" y="4320"/>
                  </a:lnTo>
                  <a:close/>
                </a:path>
              </a:pathLst>
            </a:custGeom>
            <a:solidFill>
              <a:srgbClr val="A74A41"/>
            </a:solidFill>
            <a:ln>
              <a:noFill/>
            </a:ln>
          </p:spPr>
          <p:txBody>
            <a:bodyPr spcFirstLastPara="1" wrap="square" lIns="48200" tIns="48200" rIns="48200" bIns="482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Roboto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33"/>
          <p:cNvSpPr/>
          <p:nvPr/>
        </p:nvSpPr>
        <p:spPr>
          <a:xfrm>
            <a:off x="8313576" y="1844423"/>
            <a:ext cx="281194" cy="281194"/>
          </a:xfrm>
          <a:prstGeom prst="ellipse">
            <a:avLst/>
          </a:prstGeom>
          <a:solidFill>
            <a:srgbClr val="A74A41">
              <a:alpha val="2117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3"/>
          <p:cNvSpPr/>
          <p:nvPr/>
        </p:nvSpPr>
        <p:spPr>
          <a:xfrm>
            <a:off x="8387597" y="1918445"/>
            <a:ext cx="133151" cy="13315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A74A4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3"/>
          <p:cNvSpPr/>
          <p:nvPr/>
        </p:nvSpPr>
        <p:spPr>
          <a:xfrm>
            <a:off x="3691881" y="4000092"/>
            <a:ext cx="281194" cy="281194"/>
          </a:xfrm>
          <a:prstGeom prst="ellipse">
            <a:avLst/>
          </a:prstGeom>
          <a:solidFill>
            <a:srgbClr val="525352">
              <a:alpha val="2117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3"/>
          <p:cNvSpPr/>
          <p:nvPr/>
        </p:nvSpPr>
        <p:spPr>
          <a:xfrm>
            <a:off x="3765902" y="4077092"/>
            <a:ext cx="133151" cy="113652"/>
          </a:xfrm>
          <a:custGeom>
            <a:avLst/>
            <a:gdLst/>
            <a:ahLst/>
            <a:cxnLst/>
            <a:rect l="l" t="t" r="r" b="b"/>
            <a:pathLst>
              <a:path w="21600" h="21486" extrusionOk="0">
                <a:moveTo>
                  <a:pt x="740" y="12439"/>
                </a:moveTo>
                <a:cubicBezTo>
                  <a:pt x="2308" y="12897"/>
                  <a:pt x="2308" y="12897"/>
                  <a:pt x="2308" y="12897"/>
                </a:cubicBezTo>
                <a:cubicBezTo>
                  <a:pt x="3484" y="10661"/>
                  <a:pt x="3484" y="10661"/>
                  <a:pt x="3484" y="10661"/>
                </a:cubicBezTo>
                <a:cubicBezTo>
                  <a:pt x="1132" y="10203"/>
                  <a:pt x="1132" y="10203"/>
                  <a:pt x="1132" y="10203"/>
                </a:cubicBezTo>
                <a:cubicBezTo>
                  <a:pt x="740" y="10203"/>
                  <a:pt x="0" y="10661"/>
                  <a:pt x="0" y="11118"/>
                </a:cubicBezTo>
                <a:cubicBezTo>
                  <a:pt x="0" y="11575"/>
                  <a:pt x="392" y="12439"/>
                  <a:pt x="740" y="12439"/>
                </a:cubicBezTo>
                <a:close/>
                <a:moveTo>
                  <a:pt x="20032" y="12897"/>
                </a:moveTo>
                <a:cubicBezTo>
                  <a:pt x="15024" y="17878"/>
                  <a:pt x="15024" y="17878"/>
                  <a:pt x="15024" y="17878"/>
                </a:cubicBezTo>
                <a:cubicBezTo>
                  <a:pt x="9624" y="12897"/>
                  <a:pt x="9624" y="12897"/>
                  <a:pt x="9624" y="12897"/>
                </a:cubicBezTo>
                <a:cubicBezTo>
                  <a:pt x="9232" y="12439"/>
                  <a:pt x="9232" y="12439"/>
                  <a:pt x="9232" y="12439"/>
                </a:cubicBezTo>
                <a:cubicBezTo>
                  <a:pt x="8448" y="12439"/>
                  <a:pt x="8448" y="12439"/>
                  <a:pt x="8448" y="12439"/>
                </a:cubicBezTo>
                <a:cubicBezTo>
                  <a:pt x="7316" y="14269"/>
                  <a:pt x="7316" y="14269"/>
                  <a:pt x="7316" y="14269"/>
                </a:cubicBezTo>
                <a:cubicBezTo>
                  <a:pt x="8448" y="14726"/>
                  <a:pt x="8448" y="14726"/>
                  <a:pt x="8448" y="14726"/>
                </a:cubicBezTo>
                <a:cubicBezTo>
                  <a:pt x="14676" y="20114"/>
                  <a:pt x="14676" y="20114"/>
                  <a:pt x="14676" y="20114"/>
                </a:cubicBezTo>
                <a:cubicBezTo>
                  <a:pt x="14676" y="20571"/>
                  <a:pt x="15024" y="20571"/>
                  <a:pt x="15024" y="20571"/>
                </a:cubicBezTo>
                <a:cubicBezTo>
                  <a:pt x="15416" y="20571"/>
                  <a:pt x="15808" y="20571"/>
                  <a:pt x="15808" y="20114"/>
                </a:cubicBezTo>
                <a:cubicBezTo>
                  <a:pt x="21208" y="14726"/>
                  <a:pt x="21208" y="14726"/>
                  <a:pt x="21208" y="14726"/>
                </a:cubicBezTo>
                <a:cubicBezTo>
                  <a:pt x="21600" y="14269"/>
                  <a:pt x="21600" y="13354"/>
                  <a:pt x="21208" y="12897"/>
                </a:cubicBezTo>
                <a:cubicBezTo>
                  <a:pt x="20816" y="12439"/>
                  <a:pt x="20424" y="12439"/>
                  <a:pt x="20032" y="12897"/>
                </a:cubicBezTo>
                <a:close/>
                <a:moveTo>
                  <a:pt x="9232" y="7052"/>
                </a:moveTo>
                <a:cubicBezTo>
                  <a:pt x="14676" y="11118"/>
                  <a:pt x="14676" y="11118"/>
                  <a:pt x="14676" y="11118"/>
                </a:cubicBezTo>
                <a:cubicBezTo>
                  <a:pt x="15024" y="11575"/>
                  <a:pt x="15808" y="11575"/>
                  <a:pt x="16200" y="10661"/>
                </a:cubicBezTo>
                <a:cubicBezTo>
                  <a:pt x="21600" y="1665"/>
                  <a:pt x="21600" y="1665"/>
                  <a:pt x="21600" y="1665"/>
                </a:cubicBezTo>
                <a:cubicBezTo>
                  <a:pt x="21600" y="1207"/>
                  <a:pt x="21600" y="343"/>
                  <a:pt x="21208" y="343"/>
                </a:cubicBezTo>
                <a:cubicBezTo>
                  <a:pt x="20816" y="-114"/>
                  <a:pt x="20032" y="-114"/>
                  <a:pt x="19684" y="343"/>
                </a:cubicBezTo>
                <a:cubicBezTo>
                  <a:pt x="15024" y="8882"/>
                  <a:pt x="15024" y="8882"/>
                  <a:pt x="15024" y="8882"/>
                </a:cubicBezTo>
                <a:cubicBezTo>
                  <a:pt x="9624" y="4816"/>
                  <a:pt x="9624" y="4816"/>
                  <a:pt x="9624" y="4816"/>
                </a:cubicBezTo>
                <a:cubicBezTo>
                  <a:pt x="9232" y="4358"/>
                  <a:pt x="9232" y="4358"/>
                  <a:pt x="8840" y="4358"/>
                </a:cubicBezTo>
                <a:cubicBezTo>
                  <a:pt x="8448" y="4816"/>
                  <a:pt x="8448" y="4816"/>
                  <a:pt x="8100" y="5273"/>
                </a:cubicBezTo>
                <a:cubicBezTo>
                  <a:pt x="0" y="19707"/>
                  <a:pt x="0" y="19707"/>
                  <a:pt x="0" y="19707"/>
                </a:cubicBezTo>
                <a:cubicBezTo>
                  <a:pt x="0" y="20571"/>
                  <a:pt x="0" y="21029"/>
                  <a:pt x="392" y="21486"/>
                </a:cubicBezTo>
                <a:cubicBezTo>
                  <a:pt x="740" y="21486"/>
                  <a:pt x="740" y="21486"/>
                  <a:pt x="1132" y="21486"/>
                </a:cubicBezTo>
                <a:cubicBezTo>
                  <a:pt x="1132" y="21486"/>
                  <a:pt x="1524" y="21486"/>
                  <a:pt x="1916" y="21029"/>
                </a:cubicBezTo>
                <a:lnTo>
                  <a:pt x="9232" y="7052"/>
                </a:lnTo>
                <a:close/>
              </a:path>
            </a:pathLst>
          </a:custGeom>
          <a:solidFill>
            <a:srgbClr val="A74A41"/>
          </a:solidFill>
          <a:ln>
            <a:noFill/>
          </a:ln>
        </p:spPr>
        <p:txBody>
          <a:bodyPr spcFirstLastPara="1" wrap="square" lIns="48200" tIns="48200" rIns="48200" bIns="48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3"/>
          <p:cNvSpPr txBox="1"/>
          <p:nvPr/>
        </p:nvSpPr>
        <p:spPr>
          <a:xfrm>
            <a:off x="3432540" y="2592180"/>
            <a:ext cx="2279855" cy="346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500"/>
              <a:buFont typeface="Helvetica Neue Light"/>
              <a:buNone/>
            </a:pPr>
            <a:r>
              <a:rPr lang="en" sz="18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PAYA</a:t>
            </a:r>
            <a:endParaRPr sz="900" dirty="0">
              <a:solidFill>
                <a:srgbClr val="632B26"/>
              </a:solidFill>
            </a:endParaRPr>
          </a:p>
        </p:txBody>
      </p:sp>
      <p:grpSp>
        <p:nvGrpSpPr>
          <p:cNvPr id="184" name="Google Shape;184;p33"/>
          <p:cNvGrpSpPr/>
          <p:nvPr/>
        </p:nvGrpSpPr>
        <p:grpSpPr>
          <a:xfrm>
            <a:off x="3309015" y="3031541"/>
            <a:ext cx="2512017" cy="246221"/>
            <a:chOff x="0" y="0"/>
            <a:chExt cx="3349355" cy="328292"/>
          </a:xfrm>
        </p:grpSpPr>
        <p:grpSp>
          <p:nvGrpSpPr>
            <p:cNvPr id="185" name="Google Shape;185;p33"/>
            <p:cNvGrpSpPr/>
            <p:nvPr/>
          </p:nvGrpSpPr>
          <p:grpSpPr>
            <a:xfrm>
              <a:off x="0" y="45512"/>
              <a:ext cx="247824" cy="247825"/>
              <a:chOff x="0" y="0"/>
              <a:chExt cx="247823" cy="247823"/>
            </a:xfrm>
          </p:grpSpPr>
          <p:sp>
            <p:nvSpPr>
              <p:cNvPr id="186" name="Google Shape;186;p33"/>
              <p:cNvSpPr/>
              <p:nvPr/>
            </p:nvSpPr>
            <p:spPr>
              <a:xfrm>
                <a:off x="0" y="0"/>
                <a:ext cx="247823" cy="247823"/>
              </a:xfrm>
              <a:prstGeom prst="ellipse">
                <a:avLst/>
              </a:prstGeom>
              <a:solidFill>
                <a:srgbClr val="A74A4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 dirty="0">
                  <a:solidFill>
                    <a:srgbClr val="632B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33"/>
              <p:cNvSpPr/>
              <p:nvPr/>
            </p:nvSpPr>
            <p:spPr>
              <a:xfrm>
                <a:off x="82696" y="52690"/>
                <a:ext cx="82431" cy="14244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8230" y="0"/>
                    </a:moveTo>
                    <a:cubicBezTo>
                      <a:pt x="3370" y="0"/>
                      <a:pt x="3370" y="0"/>
                      <a:pt x="3370" y="0"/>
                    </a:cubicBezTo>
                    <a:cubicBezTo>
                      <a:pt x="1302" y="0"/>
                      <a:pt x="0" y="797"/>
                      <a:pt x="0" y="1947"/>
                    </a:cubicBezTo>
                    <a:cubicBezTo>
                      <a:pt x="0" y="19210"/>
                      <a:pt x="0" y="19210"/>
                      <a:pt x="0" y="19210"/>
                    </a:cubicBezTo>
                    <a:cubicBezTo>
                      <a:pt x="0" y="20361"/>
                      <a:pt x="1302" y="21600"/>
                      <a:pt x="3370" y="21600"/>
                    </a:cubicBezTo>
                    <a:cubicBezTo>
                      <a:pt x="18230" y="21600"/>
                      <a:pt x="18230" y="21600"/>
                      <a:pt x="18230" y="21600"/>
                    </a:cubicBezTo>
                    <a:cubicBezTo>
                      <a:pt x="20298" y="21600"/>
                      <a:pt x="21600" y="20361"/>
                      <a:pt x="21600" y="19210"/>
                    </a:cubicBezTo>
                    <a:cubicBezTo>
                      <a:pt x="21600" y="1947"/>
                      <a:pt x="21600" y="1947"/>
                      <a:pt x="21600" y="1947"/>
                    </a:cubicBezTo>
                    <a:cubicBezTo>
                      <a:pt x="21600" y="797"/>
                      <a:pt x="20298" y="0"/>
                      <a:pt x="18230" y="0"/>
                    </a:cubicBezTo>
                    <a:close/>
                    <a:moveTo>
                      <a:pt x="10800" y="20361"/>
                    </a:moveTo>
                    <a:cubicBezTo>
                      <a:pt x="9421" y="20361"/>
                      <a:pt x="8119" y="19962"/>
                      <a:pt x="8119" y="19608"/>
                    </a:cubicBezTo>
                    <a:cubicBezTo>
                      <a:pt x="8119" y="18811"/>
                      <a:pt x="9421" y="18413"/>
                      <a:pt x="10800" y="18413"/>
                    </a:cubicBezTo>
                    <a:cubicBezTo>
                      <a:pt x="12179" y="18413"/>
                      <a:pt x="13481" y="18811"/>
                      <a:pt x="13481" y="19608"/>
                    </a:cubicBezTo>
                    <a:cubicBezTo>
                      <a:pt x="13481" y="19962"/>
                      <a:pt x="12179" y="20361"/>
                      <a:pt x="10800" y="20361"/>
                    </a:cubicBezTo>
                    <a:close/>
                    <a:moveTo>
                      <a:pt x="18919" y="17262"/>
                    </a:moveTo>
                    <a:cubicBezTo>
                      <a:pt x="2681" y="17262"/>
                      <a:pt x="2681" y="17262"/>
                      <a:pt x="2681" y="17262"/>
                    </a:cubicBezTo>
                    <a:cubicBezTo>
                      <a:pt x="2681" y="2744"/>
                      <a:pt x="2681" y="2744"/>
                      <a:pt x="2681" y="2744"/>
                    </a:cubicBezTo>
                    <a:cubicBezTo>
                      <a:pt x="18919" y="2744"/>
                      <a:pt x="18919" y="2744"/>
                      <a:pt x="18919" y="2744"/>
                    </a:cubicBezTo>
                    <a:lnTo>
                      <a:pt x="18919" y="172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48200" tIns="48200" rIns="48200" bIns="482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Roboto"/>
                  <a:buNone/>
                </a:pPr>
                <a:endParaRPr sz="1100" b="0" i="0" u="none" strike="noStrike" cap="none">
                  <a:solidFill>
                    <a:srgbClr val="632B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33"/>
            <p:cNvGrpSpPr/>
            <p:nvPr/>
          </p:nvGrpSpPr>
          <p:grpSpPr>
            <a:xfrm>
              <a:off x="1227985" y="42423"/>
              <a:ext cx="254001" cy="254001"/>
              <a:chOff x="0" y="0"/>
              <a:chExt cx="254000" cy="254000"/>
            </a:xfrm>
          </p:grpSpPr>
          <p:sp>
            <p:nvSpPr>
              <p:cNvPr id="189" name="Google Shape;189;p33"/>
              <p:cNvSpPr/>
              <p:nvPr/>
            </p:nvSpPr>
            <p:spPr>
              <a:xfrm>
                <a:off x="0" y="0"/>
                <a:ext cx="254000" cy="254000"/>
              </a:xfrm>
              <a:prstGeom prst="ellipse">
                <a:avLst/>
              </a:prstGeom>
              <a:solidFill>
                <a:srgbClr val="A74A4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632B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33"/>
              <p:cNvSpPr/>
              <p:nvPr/>
            </p:nvSpPr>
            <p:spPr>
              <a:xfrm>
                <a:off x="75810" y="78517"/>
                <a:ext cx="84485" cy="9683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0600" y="0"/>
                    </a:moveTo>
                    <a:cubicBezTo>
                      <a:pt x="17213" y="0"/>
                      <a:pt x="17213" y="0"/>
                      <a:pt x="17213" y="0"/>
                    </a:cubicBezTo>
                    <a:cubicBezTo>
                      <a:pt x="16714" y="0"/>
                      <a:pt x="16214" y="486"/>
                      <a:pt x="16214" y="1362"/>
                    </a:cubicBezTo>
                    <a:cubicBezTo>
                      <a:pt x="16214" y="21600"/>
                      <a:pt x="16214" y="21600"/>
                      <a:pt x="16214" y="21600"/>
                    </a:cubicBezTo>
                    <a:cubicBezTo>
                      <a:pt x="21600" y="21600"/>
                      <a:pt x="21600" y="21600"/>
                      <a:pt x="21600" y="21600"/>
                    </a:cubicBezTo>
                    <a:cubicBezTo>
                      <a:pt x="21600" y="1362"/>
                      <a:pt x="21600" y="1362"/>
                      <a:pt x="21600" y="1362"/>
                    </a:cubicBezTo>
                    <a:cubicBezTo>
                      <a:pt x="21600" y="486"/>
                      <a:pt x="21100" y="0"/>
                      <a:pt x="20600" y="0"/>
                    </a:cubicBezTo>
                    <a:close/>
                    <a:moveTo>
                      <a:pt x="12271" y="7346"/>
                    </a:moveTo>
                    <a:cubicBezTo>
                      <a:pt x="9329" y="7346"/>
                      <a:pt x="9329" y="7346"/>
                      <a:pt x="9329" y="7346"/>
                    </a:cubicBezTo>
                    <a:cubicBezTo>
                      <a:pt x="8329" y="7346"/>
                      <a:pt x="7829" y="7784"/>
                      <a:pt x="7829" y="8659"/>
                    </a:cubicBezTo>
                    <a:cubicBezTo>
                      <a:pt x="7829" y="21600"/>
                      <a:pt x="7829" y="21600"/>
                      <a:pt x="7829" y="21600"/>
                    </a:cubicBezTo>
                    <a:cubicBezTo>
                      <a:pt x="13771" y="21600"/>
                      <a:pt x="13771" y="21600"/>
                      <a:pt x="13771" y="21600"/>
                    </a:cubicBezTo>
                    <a:cubicBezTo>
                      <a:pt x="13771" y="8659"/>
                      <a:pt x="13771" y="8659"/>
                      <a:pt x="13771" y="8659"/>
                    </a:cubicBezTo>
                    <a:cubicBezTo>
                      <a:pt x="13771" y="7784"/>
                      <a:pt x="12771" y="7346"/>
                      <a:pt x="12271" y="7346"/>
                    </a:cubicBezTo>
                    <a:close/>
                    <a:moveTo>
                      <a:pt x="3887" y="14692"/>
                    </a:moveTo>
                    <a:cubicBezTo>
                      <a:pt x="944" y="14692"/>
                      <a:pt x="944" y="14692"/>
                      <a:pt x="944" y="14692"/>
                    </a:cubicBezTo>
                    <a:cubicBezTo>
                      <a:pt x="0" y="14692"/>
                      <a:pt x="0" y="15081"/>
                      <a:pt x="0" y="15519"/>
                    </a:cubicBezTo>
                    <a:cubicBezTo>
                      <a:pt x="0" y="21600"/>
                      <a:pt x="0" y="21600"/>
                      <a:pt x="0" y="21600"/>
                    </a:cubicBezTo>
                    <a:cubicBezTo>
                      <a:pt x="5386" y="21600"/>
                      <a:pt x="5386" y="21600"/>
                      <a:pt x="5386" y="21600"/>
                    </a:cubicBezTo>
                    <a:cubicBezTo>
                      <a:pt x="5386" y="15519"/>
                      <a:pt x="5386" y="15519"/>
                      <a:pt x="5386" y="15519"/>
                    </a:cubicBezTo>
                    <a:cubicBezTo>
                      <a:pt x="5386" y="15081"/>
                      <a:pt x="4886" y="14692"/>
                      <a:pt x="3887" y="146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48200" tIns="48200" rIns="48200" bIns="482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Roboto"/>
                  <a:buNone/>
                </a:pPr>
                <a:endParaRPr sz="1100" b="0" i="0" u="none" strike="noStrike" cap="none">
                  <a:solidFill>
                    <a:srgbClr val="632B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33"/>
            <p:cNvGrpSpPr/>
            <p:nvPr/>
          </p:nvGrpSpPr>
          <p:grpSpPr>
            <a:xfrm>
              <a:off x="2374209" y="42423"/>
              <a:ext cx="254001" cy="254001"/>
              <a:chOff x="0" y="0"/>
              <a:chExt cx="254000" cy="254000"/>
            </a:xfrm>
          </p:grpSpPr>
          <p:sp>
            <p:nvSpPr>
              <p:cNvPr id="192" name="Google Shape;192;p33"/>
              <p:cNvSpPr/>
              <p:nvPr/>
            </p:nvSpPr>
            <p:spPr>
              <a:xfrm>
                <a:off x="0" y="0"/>
                <a:ext cx="254000" cy="254000"/>
              </a:xfrm>
              <a:prstGeom prst="ellipse">
                <a:avLst/>
              </a:prstGeom>
              <a:solidFill>
                <a:srgbClr val="A74A4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0" i="0" u="none" strike="noStrike" cap="none">
                  <a:solidFill>
                    <a:srgbClr val="632B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3"/>
              <p:cNvSpPr/>
              <p:nvPr/>
            </p:nvSpPr>
            <p:spPr>
              <a:xfrm>
                <a:off x="76816" y="78517"/>
                <a:ext cx="100368" cy="102662"/>
              </a:xfrm>
              <a:custGeom>
                <a:avLst/>
                <a:gdLst/>
                <a:ahLst/>
                <a:cxnLst/>
                <a:rect l="l" t="t" r="r" b="b"/>
                <a:pathLst>
                  <a:path w="20525" h="20507" extrusionOk="0">
                    <a:moveTo>
                      <a:pt x="12855" y="13320"/>
                    </a:moveTo>
                    <a:cubicBezTo>
                      <a:pt x="12855" y="13320"/>
                      <a:pt x="21284" y="7135"/>
                      <a:pt x="20470" y="435"/>
                    </a:cubicBezTo>
                    <a:lnTo>
                      <a:pt x="20470" y="60"/>
                    </a:lnTo>
                    <a:cubicBezTo>
                      <a:pt x="20039" y="60"/>
                      <a:pt x="20039" y="60"/>
                      <a:pt x="20039" y="60"/>
                    </a:cubicBezTo>
                    <a:cubicBezTo>
                      <a:pt x="13286" y="-783"/>
                      <a:pt x="7299" y="7557"/>
                      <a:pt x="7299" y="7557"/>
                    </a:cubicBezTo>
                    <a:cubicBezTo>
                      <a:pt x="2222" y="6667"/>
                      <a:pt x="2653" y="7932"/>
                      <a:pt x="115" y="13320"/>
                    </a:cubicBezTo>
                    <a:cubicBezTo>
                      <a:pt x="-316" y="14585"/>
                      <a:pt x="546" y="14585"/>
                      <a:pt x="1360" y="14585"/>
                    </a:cubicBezTo>
                    <a:cubicBezTo>
                      <a:pt x="2222" y="14164"/>
                      <a:pt x="3899" y="13742"/>
                      <a:pt x="3899" y="13742"/>
                    </a:cubicBezTo>
                    <a:cubicBezTo>
                      <a:pt x="6916" y="16647"/>
                      <a:pt x="6916" y="16647"/>
                      <a:pt x="6916" y="16647"/>
                    </a:cubicBezTo>
                    <a:cubicBezTo>
                      <a:pt x="6916" y="16647"/>
                      <a:pt x="6437" y="18287"/>
                      <a:pt x="6054" y="19130"/>
                    </a:cubicBezTo>
                    <a:cubicBezTo>
                      <a:pt x="5623" y="19973"/>
                      <a:pt x="6054" y="20817"/>
                      <a:pt x="6916" y="20395"/>
                    </a:cubicBezTo>
                    <a:cubicBezTo>
                      <a:pt x="12424" y="17865"/>
                      <a:pt x="13669" y="18287"/>
                      <a:pt x="12855" y="13320"/>
                    </a:cubicBezTo>
                    <a:close/>
                    <a:moveTo>
                      <a:pt x="14100" y="6245"/>
                    </a:moveTo>
                    <a:cubicBezTo>
                      <a:pt x="13286" y="5449"/>
                      <a:pt x="13286" y="4605"/>
                      <a:pt x="14100" y="3762"/>
                    </a:cubicBezTo>
                    <a:cubicBezTo>
                      <a:pt x="14962" y="2965"/>
                      <a:pt x="16207" y="2965"/>
                      <a:pt x="16638" y="3762"/>
                    </a:cubicBezTo>
                    <a:cubicBezTo>
                      <a:pt x="17500" y="4605"/>
                      <a:pt x="17500" y="5449"/>
                      <a:pt x="16638" y="6245"/>
                    </a:cubicBezTo>
                    <a:cubicBezTo>
                      <a:pt x="16207" y="7135"/>
                      <a:pt x="14962" y="7135"/>
                      <a:pt x="14100" y="62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48200" tIns="48200" rIns="48200" bIns="482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Roboto"/>
                  <a:buNone/>
                </a:pPr>
                <a:endParaRPr sz="1100" b="0" i="0" u="none" strike="noStrike" cap="none">
                  <a:solidFill>
                    <a:srgbClr val="632B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4" name="Google Shape;194;p33"/>
            <p:cNvSpPr txBox="1"/>
            <p:nvPr/>
          </p:nvSpPr>
          <p:spPr>
            <a:xfrm>
              <a:off x="349197" y="0"/>
              <a:ext cx="595108" cy="328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353"/>
                </a:buClr>
                <a:buSzPts val="800"/>
                <a:buFont typeface="Helvetica Neue Light"/>
                <a:buNone/>
              </a:pPr>
              <a:r>
                <a:rPr lang="en" sz="800" b="0" i="0" u="none" strike="noStrike" cap="none" dirty="0">
                  <a:solidFill>
                    <a:srgbClr val="632B26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Ease-of-use tech</a:t>
              </a:r>
              <a:endParaRPr sz="1100" dirty="0">
                <a:solidFill>
                  <a:srgbClr val="632B26"/>
                </a:solidFill>
              </a:endParaRPr>
            </a:p>
          </p:txBody>
        </p:sp>
        <p:sp>
          <p:nvSpPr>
            <p:cNvPr id="195" name="Google Shape;195;p33"/>
            <p:cNvSpPr txBox="1"/>
            <p:nvPr/>
          </p:nvSpPr>
          <p:spPr>
            <a:xfrm>
              <a:off x="1614964" y="0"/>
              <a:ext cx="595108" cy="32614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353"/>
                </a:buClr>
                <a:buSzPts val="800"/>
                <a:buFont typeface="Helvetica Neue Light"/>
                <a:buNone/>
              </a:pPr>
              <a:r>
                <a:rPr lang="en" sz="800" b="0" i="0" u="none" strike="noStrike" cap="none">
                  <a:solidFill>
                    <a:srgbClr val="632B26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Data Analytics</a:t>
              </a:r>
              <a:endParaRPr sz="1100">
                <a:solidFill>
                  <a:srgbClr val="632B26"/>
                </a:solidFill>
              </a:endParaRPr>
            </a:p>
          </p:txBody>
        </p:sp>
        <p:sp>
          <p:nvSpPr>
            <p:cNvPr id="196" name="Google Shape;196;p33"/>
            <p:cNvSpPr txBox="1"/>
            <p:nvPr/>
          </p:nvSpPr>
          <p:spPr>
            <a:xfrm>
              <a:off x="2754247" y="0"/>
              <a:ext cx="595108" cy="326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353"/>
                </a:buClr>
                <a:buSzPts val="800"/>
                <a:buFont typeface="Helvetica Neue Light"/>
                <a:buNone/>
              </a:pPr>
              <a:r>
                <a:rPr lang="en" sz="800" b="0" i="0" u="none" strike="noStrike" cap="none">
                  <a:solidFill>
                    <a:srgbClr val="632B26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Network Facilitator</a:t>
              </a:r>
              <a:endParaRPr sz="1100">
                <a:solidFill>
                  <a:srgbClr val="632B26"/>
                </a:solidFill>
              </a:endParaRPr>
            </a:p>
          </p:txBody>
        </p:sp>
      </p:grpSp>
      <p:sp>
        <p:nvSpPr>
          <p:cNvPr id="197" name="Google Shape;197;p33"/>
          <p:cNvSpPr/>
          <p:nvPr/>
        </p:nvSpPr>
        <p:spPr>
          <a:xfrm>
            <a:off x="6393624" y="1945165"/>
            <a:ext cx="93530" cy="93530"/>
          </a:xfrm>
          <a:prstGeom prst="ellipse">
            <a:avLst/>
          </a:prstGeom>
          <a:solidFill>
            <a:srgbClr val="A74A4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3"/>
          <p:cNvSpPr/>
          <p:nvPr/>
        </p:nvSpPr>
        <p:spPr>
          <a:xfrm>
            <a:off x="5461343" y="1987981"/>
            <a:ext cx="973113" cy="164116"/>
          </a:xfrm>
          <a:custGeom>
            <a:avLst/>
            <a:gdLst/>
            <a:ahLst/>
            <a:cxnLst/>
            <a:rect l="l" t="t" r="r" b="b"/>
            <a:pathLst>
              <a:path w="21600" h="21549" extrusionOk="0">
                <a:moveTo>
                  <a:pt x="21600" y="0"/>
                </a:moveTo>
                <a:cubicBezTo>
                  <a:pt x="20619" y="482"/>
                  <a:pt x="19647" y="814"/>
                  <a:pt x="18681" y="1005"/>
                </a:cubicBezTo>
                <a:cubicBezTo>
                  <a:pt x="17538" y="1231"/>
                  <a:pt x="16373" y="1235"/>
                  <a:pt x="15252" y="4825"/>
                </a:cubicBezTo>
                <a:cubicBezTo>
                  <a:pt x="14250" y="8034"/>
                  <a:pt x="13337" y="14009"/>
                  <a:pt x="12337" y="17264"/>
                </a:cubicBezTo>
                <a:cubicBezTo>
                  <a:pt x="11239" y="20835"/>
                  <a:pt x="10086" y="21011"/>
                  <a:pt x="8944" y="21138"/>
                </a:cubicBezTo>
                <a:cubicBezTo>
                  <a:pt x="5963" y="21469"/>
                  <a:pt x="2981" y="21600"/>
                  <a:pt x="0" y="21531"/>
                </a:cubicBezTo>
              </a:path>
            </a:pathLst>
          </a:custGeom>
          <a:noFill/>
          <a:ln w="50800" cap="flat" cmpd="sng">
            <a:solidFill>
              <a:srgbClr val="A74A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3"/>
          <p:cNvSpPr/>
          <p:nvPr/>
        </p:nvSpPr>
        <p:spPr>
          <a:xfrm>
            <a:off x="5409887" y="2104389"/>
            <a:ext cx="93530" cy="93530"/>
          </a:xfrm>
          <a:prstGeom prst="ellipse">
            <a:avLst/>
          </a:prstGeom>
          <a:solidFill>
            <a:srgbClr val="A74A4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2692481" y="1945165"/>
            <a:ext cx="93530" cy="93530"/>
          </a:xfrm>
          <a:prstGeom prst="ellipse">
            <a:avLst/>
          </a:prstGeom>
          <a:solidFill>
            <a:srgbClr val="A74A4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3"/>
          <p:cNvSpPr/>
          <p:nvPr/>
        </p:nvSpPr>
        <p:spPr>
          <a:xfrm flipH="1">
            <a:off x="2721894" y="1987981"/>
            <a:ext cx="995899" cy="164116"/>
          </a:xfrm>
          <a:custGeom>
            <a:avLst/>
            <a:gdLst/>
            <a:ahLst/>
            <a:cxnLst/>
            <a:rect l="l" t="t" r="r" b="b"/>
            <a:pathLst>
              <a:path w="21600" h="21549" extrusionOk="0">
                <a:moveTo>
                  <a:pt x="21600" y="0"/>
                </a:moveTo>
                <a:cubicBezTo>
                  <a:pt x="20619" y="482"/>
                  <a:pt x="19647" y="814"/>
                  <a:pt x="18681" y="1005"/>
                </a:cubicBezTo>
                <a:cubicBezTo>
                  <a:pt x="17538" y="1231"/>
                  <a:pt x="16373" y="1235"/>
                  <a:pt x="15252" y="4825"/>
                </a:cubicBezTo>
                <a:cubicBezTo>
                  <a:pt x="14250" y="8034"/>
                  <a:pt x="13337" y="14009"/>
                  <a:pt x="12337" y="17264"/>
                </a:cubicBezTo>
                <a:cubicBezTo>
                  <a:pt x="11239" y="20835"/>
                  <a:pt x="10086" y="21011"/>
                  <a:pt x="8944" y="21138"/>
                </a:cubicBezTo>
                <a:cubicBezTo>
                  <a:pt x="5963" y="21469"/>
                  <a:pt x="2981" y="21600"/>
                  <a:pt x="0" y="21531"/>
                </a:cubicBezTo>
              </a:path>
            </a:pathLst>
          </a:custGeom>
          <a:noFill/>
          <a:ln w="50800" cap="flat" cmpd="sng">
            <a:solidFill>
              <a:srgbClr val="A74A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3"/>
          <p:cNvSpPr/>
          <p:nvPr/>
        </p:nvSpPr>
        <p:spPr>
          <a:xfrm>
            <a:off x="3644044" y="2104389"/>
            <a:ext cx="93530" cy="93530"/>
          </a:xfrm>
          <a:prstGeom prst="ellipse">
            <a:avLst/>
          </a:prstGeom>
          <a:solidFill>
            <a:srgbClr val="A74A4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33"/>
          <p:cNvGrpSpPr/>
          <p:nvPr/>
        </p:nvGrpSpPr>
        <p:grpSpPr>
          <a:xfrm>
            <a:off x="4532090" y="3373319"/>
            <a:ext cx="96079" cy="362562"/>
            <a:chOff x="0" y="0"/>
            <a:chExt cx="128104" cy="483415"/>
          </a:xfrm>
        </p:grpSpPr>
        <p:sp>
          <p:nvSpPr>
            <p:cNvPr id="204" name="Google Shape;204;p33"/>
            <p:cNvSpPr/>
            <p:nvPr/>
          </p:nvSpPr>
          <p:spPr>
            <a:xfrm>
              <a:off x="3397" y="358708"/>
              <a:ext cx="124707" cy="124707"/>
            </a:xfrm>
            <a:prstGeom prst="ellipse">
              <a:avLst/>
            </a:prstGeom>
            <a:solidFill>
              <a:srgbClr val="A74A41"/>
            </a:solidFill>
            <a:ln>
              <a:solidFill>
                <a:srgbClr val="A74A41"/>
              </a:solidFill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33"/>
            <p:cNvCxnSpPr/>
            <p:nvPr/>
          </p:nvCxnSpPr>
          <p:spPr>
            <a:xfrm rot="10800000" flipH="1">
              <a:off x="62352" y="4507"/>
              <a:ext cx="1" cy="407879"/>
            </a:xfrm>
            <a:prstGeom prst="straightConnector1">
              <a:avLst/>
            </a:prstGeom>
            <a:noFill/>
            <a:ln w="50800" cap="flat" cmpd="sng">
              <a:solidFill>
                <a:srgbClr val="A74A4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sp>
          <p:nvSpPr>
            <p:cNvPr id="206" name="Google Shape;206;p33"/>
            <p:cNvSpPr/>
            <p:nvPr/>
          </p:nvSpPr>
          <p:spPr>
            <a:xfrm>
              <a:off x="0" y="0"/>
              <a:ext cx="124706" cy="124706"/>
            </a:xfrm>
            <a:prstGeom prst="ellipse">
              <a:avLst/>
            </a:prstGeom>
            <a:solidFill>
              <a:srgbClr val="A74A41"/>
            </a:solidFill>
            <a:ln>
              <a:solidFill>
                <a:srgbClr val="A74A41"/>
              </a:solidFill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33"/>
          <p:cNvSpPr txBox="1"/>
          <p:nvPr/>
        </p:nvSpPr>
        <p:spPr>
          <a:xfrm>
            <a:off x="6734325" y="2199532"/>
            <a:ext cx="1829700" cy="73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100"/>
              <a:buFont typeface="Helvetica Neue Light"/>
              <a:buNone/>
            </a:pPr>
            <a:r>
              <a:rPr lang="en" sz="11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 set the underwriting criteria and deploy an automated loan engine, with a deposit growth product</a:t>
            </a:r>
            <a:endParaRPr sz="1100" dirty="0">
              <a:solidFill>
                <a:srgbClr val="632B26"/>
              </a:solidFill>
            </a:endParaRPr>
          </a:p>
        </p:txBody>
      </p:sp>
      <p:grpSp>
        <p:nvGrpSpPr>
          <p:cNvPr id="208" name="Google Shape;208;p33"/>
          <p:cNvGrpSpPr/>
          <p:nvPr/>
        </p:nvGrpSpPr>
        <p:grpSpPr>
          <a:xfrm>
            <a:off x="537751" y="2199532"/>
            <a:ext cx="1924650" cy="1228493"/>
            <a:chOff x="-471583" y="75698"/>
            <a:chExt cx="2566200" cy="1637991"/>
          </a:xfrm>
        </p:grpSpPr>
        <p:sp>
          <p:nvSpPr>
            <p:cNvPr id="209" name="Google Shape;209;p33"/>
            <p:cNvSpPr txBox="1"/>
            <p:nvPr/>
          </p:nvSpPr>
          <p:spPr>
            <a:xfrm>
              <a:off x="-471583" y="75698"/>
              <a:ext cx="2566200" cy="974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775" tIns="26775" rIns="26775" bIns="267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Font typeface="Helvetica Neue Light"/>
                <a:buNone/>
              </a:pPr>
              <a:r>
                <a:rPr lang="en" sz="1100" b="0" i="0" u="none" strike="noStrike" cap="none" dirty="0">
                  <a:solidFill>
                    <a:srgbClr val="632B26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Consumers can apply for a buy now pay later loan in minutes</a:t>
              </a:r>
              <a:r>
                <a:rPr lang="en" sz="1100" dirty="0">
                  <a:solidFill>
                    <a:srgbClr val="632B26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, and get financed in a few minutes.</a:t>
              </a:r>
              <a:endParaRPr sz="1100" dirty="0">
                <a:solidFill>
                  <a:srgbClr val="632B26"/>
                </a:solidFill>
              </a:endParaRPr>
            </a:p>
          </p:txBody>
        </p:sp>
        <p:sp>
          <p:nvSpPr>
            <p:cNvPr id="210" name="Google Shape;210;p33"/>
            <p:cNvSpPr txBox="1"/>
            <p:nvPr/>
          </p:nvSpPr>
          <p:spPr>
            <a:xfrm>
              <a:off x="-424948" y="1179989"/>
              <a:ext cx="10431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775"/>
                </a:buClr>
                <a:buSzPts val="1700"/>
                <a:buFont typeface="Helvetica Neue"/>
                <a:buNone/>
              </a:pPr>
              <a:r>
                <a:rPr lang="en" sz="1700" b="1" i="0" u="none" strike="noStrike" cap="none" dirty="0">
                  <a:solidFill>
                    <a:srgbClr val="632B2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50%</a:t>
              </a:r>
              <a:endParaRPr sz="1100" dirty="0">
                <a:solidFill>
                  <a:srgbClr val="632B26"/>
                </a:solidFill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900"/>
                <a:buFont typeface="Helvetica Neue Light"/>
                <a:buNone/>
              </a:pPr>
              <a:r>
                <a:rPr lang="en" sz="900" b="0" i="0" u="none" strike="noStrike" cap="none" dirty="0">
                  <a:solidFill>
                    <a:srgbClr val="632B26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Cheaper capital</a:t>
              </a:r>
              <a:endParaRPr sz="1100" dirty="0">
                <a:solidFill>
                  <a:srgbClr val="632B26"/>
                </a:solidFill>
              </a:endParaRPr>
            </a:p>
          </p:txBody>
        </p:sp>
      </p:grpSp>
      <p:sp>
        <p:nvSpPr>
          <p:cNvPr id="211" name="Google Shape;211;p33"/>
          <p:cNvSpPr txBox="1"/>
          <p:nvPr/>
        </p:nvSpPr>
        <p:spPr>
          <a:xfrm>
            <a:off x="7772247" y="3004857"/>
            <a:ext cx="74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9EB4"/>
              </a:buClr>
              <a:buSzPts val="1700"/>
              <a:buFont typeface="Helvetica Neue"/>
              <a:buNone/>
            </a:pPr>
            <a:r>
              <a:rPr lang="en" sz="17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1.3</a:t>
            </a:r>
            <a:r>
              <a:rPr lang="en" sz="17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900"/>
              <a:buFont typeface="Helvetica Neue Light"/>
              <a:buNone/>
            </a:pPr>
            <a:r>
              <a:rPr lang="en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Higher Returns</a:t>
            </a:r>
            <a:endParaRPr sz="1100" dirty="0">
              <a:solidFill>
                <a:srgbClr val="632B26"/>
              </a:solidFill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49133415-8647-9728-FF00-5F2081C77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731" y="1762242"/>
            <a:ext cx="1244652" cy="728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/>
        </p:nvSpPr>
        <p:spPr>
          <a:xfrm>
            <a:off x="384472" y="590538"/>
            <a:ext cx="7448213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100"/>
              <a:buFont typeface="Helvetica Neue"/>
              <a:buNone/>
            </a:pPr>
            <a:r>
              <a:rPr lang="en" sz="21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and compliant application, automated underwriting and scalable backend management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396022" y="193448"/>
            <a:ext cx="3990821" cy="28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14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223" name="Google Shape;223;p34"/>
          <p:cNvSpPr txBox="1"/>
          <p:nvPr/>
        </p:nvSpPr>
        <p:spPr>
          <a:xfrm>
            <a:off x="6392310" y="1657243"/>
            <a:ext cx="2102325" cy="201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Front-end application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6396361" y="2297186"/>
            <a:ext cx="2102325" cy="60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Fully automated underwriting model producing real-time offers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6392310" y="3294901"/>
            <a:ext cx="2102325" cy="42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 compliant for internal management and scalability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228" name="Google Shape;228;p34"/>
          <p:cNvSpPr/>
          <p:nvPr/>
        </p:nvSpPr>
        <p:spPr>
          <a:xfrm>
            <a:off x="5886254" y="1585016"/>
            <a:ext cx="374558" cy="374558"/>
          </a:xfrm>
          <a:prstGeom prst="ellipse">
            <a:avLst/>
          </a:prstGeom>
          <a:solidFill>
            <a:srgbClr val="547675">
              <a:alpha val="2117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5886254" y="2415151"/>
            <a:ext cx="374558" cy="374558"/>
          </a:xfrm>
          <a:prstGeom prst="ellipse">
            <a:avLst/>
          </a:prstGeom>
          <a:solidFill>
            <a:srgbClr val="617985">
              <a:alpha val="2117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5886254" y="3310455"/>
            <a:ext cx="374558" cy="374558"/>
          </a:xfrm>
          <a:prstGeom prst="ellipse">
            <a:avLst/>
          </a:prstGeom>
          <a:solidFill>
            <a:srgbClr val="617985">
              <a:alpha val="2117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5983311" y="1682808"/>
            <a:ext cx="180446" cy="17897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9783" y="10540"/>
                </a:moveTo>
                <a:cubicBezTo>
                  <a:pt x="19783" y="9190"/>
                  <a:pt x="20717" y="8256"/>
                  <a:pt x="21600" y="7321"/>
                </a:cubicBezTo>
                <a:cubicBezTo>
                  <a:pt x="21600" y="6854"/>
                  <a:pt x="21185" y="5971"/>
                  <a:pt x="21185" y="5504"/>
                </a:cubicBezTo>
                <a:cubicBezTo>
                  <a:pt x="19315" y="5971"/>
                  <a:pt x="18381" y="5036"/>
                  <a:pt x="17498" y="4102"/>
                </a:cubicBezTo>
                <a:cubicBezTo>
                  <a:pt x="16563" y="3219"/>
                  <a:pt x="16096" y="2284"/>
                  <a:pt x="16563" y="883"/>
                </a:cubicBezTo>
                <a:cubicBezTo>
                  <a:pt x="16096" y="467"/>
                  <a:pt x="15213" y="0"/>
                  <a:pt x="14279" y="0"/>
                </a:cubicBezTo>
                <a:cubicBezTo>
                  <a:pt x="13811" y="883"/>
                  <a:pt x="12461" y="1817"/>
                  <a:pt x="11059" y="1817"/>
                </a:cubicBezTo>
                <a:cubicBezTo>
                  <a:pt x="9709" y="1817"/>
                  <a:pt x="8308" y="883"/>
                  <a:pt x="7840" y="0"/>
                </a:cubicBezTo>
                <a:cubicBezTo>
                  <a:pt x="6906" y="0"/>
                  <a:pt x="6023" y="467"/>
                  <a:pt x="5556" y="883"/>
                </a:cubicBezTo>
                <a:cubicBezTo>
                  <a:pt x="6023" y="2284"/>
                  <a:pt x="5556" y="3219"/>
                  <a:pt x="4621" y="4102"/>
                </a:cubicBezTo>
                <a:cubicBezTo>
                  <a:pt x="3738" y="5036"/>
                  <a:pt x="2284" y="5971"/>
                  <a:pt x="934" y="5504"/>
                </a:cubicBezTo>
                <a:cubicBezTo>
                  <a:pt x="934" y="5971"/>
                  <a:pt x="467" y="6854"/>
                  <a:pt x="0" y="7321"/>
                </a:cubicBezTo>
                <a:cubicBezTo>
                  <a:pt x="1402" y="8256"/>
                  <a:pt x="2284" y="9190"/>
                  <a:pt x="2284" y="10540"/>
                </a:cubicBezTo>
                <a:cubicBezTo>
                  <a:pt x="2284" y="11942"/>
                  <a:pt x="1402" y="13292"/>
                  <a:pt x="0" y="14279"/>
                </a:cubicBezTo>
                <a:cubicBezTo>
                  <a:pt x="467" y="14694"/>
                  <a:pt x="934" y="15629"/>
                  <a:pt x="934" y="16096"/>
                </a:cubicBezTo>
                <a:cubicBezTo>
                  <a:pt x="2284" y="16096"/>
                  <a:pt x="3738" y="16096"/>
                  <a:pt x="4621" y="17031"/>
                </a:cubicBezTo>
                <a:cubicBezTo>
                  <a:pt x="5556" y="17913"/>
                  <a:pt x="6023" y="19315"/>
                  <a:pt x="5556" y="20665"/>
                </a:cubicBezTo>
                <a:cubicBezTo>
                  <a:pt x="6023" y="21133"/>
                  <a:pt x="6906" y="21133"/>
                  <a:pt x="7840" y="21600"/>
                </a:cubicBezTo>
                <a:cubicBezTo>
                  <a:pt x="8308" y="20198"/>
                  <a:pt x="9709" y="19315"/>
                  <a:pt x="11059" y="19315"/>
                </a:cubicBezTo>
                <a:cubicBezTo>
                  <a:pt x="12461" y="19315"/>
                  <a:pt x="13811" y="20198"/>
                  <a:pt x="14279" y="21600"/>
                </a:cubicBezTo>
                <a:cubicBezTo>
                  <a:pt x="15213" y="21133"/>
                  <a:pt x="16096" y="21133"/>
                  <a:pt x="16563" y="20665"/>
                </a:cubicBezTo>
                <a:cubicBezTo>
                  <a:pt x="16096" y="19315"/>
                  <a:pt x="16563" y="17913"/>
                  <a:pt x="17498" y="17031"/>
                </a:cubicBezTo>
                <a:cubicBezTo>
                  <a:pt x="18381" y="16096"/>
                  <a:pt x="19315" y="15629"/>
                  <a:pt x="21185" y="16096"/>
                </a:cubicBezTo>
                <a:cubicBezTo>
                  <a:pt x="21185" y="15161"/>
                  <a:pt x="21600" y="14694"/>
                  <a:pt x="21600" y="13759"/>
                </a:cubicBezTo>
                <a:cubicBezTo>
                  <a:pt x="20717" y="13292"/>
                  <a:pt x="19783" y="11942"/>
                  <a:pt x="19783" y="10540"/>
                </a:cubicBezTo>
                <a:close/>
                <a:moveTo>
                  <a:pt x="11059" y="15161"/>
                </a:moveTo>
                <a:cubicBezTo>
                  <a:pt x="8308" y="15161"/>
                  <a:pt x="6490" y="13292"/>
                  <a:pt x="6490" y="10540"/>
                </a:cubicBezTo>
                <a:cubicBezTo>
                  <a:pt x="6490" y="8256"/>
                  <a:pt x="8308" y="5971"/>
                  <a:pt x="11059" y="5971"/>
                </a:cubicBezTo>
                <a:cubicBezTo>
                  <a:pt x="13811" y="5971"/>
                  <a:pt x="15629" y="8256"/>
                  <a:pt x="15629" y="10540"/>
                </a:cubicBezTo>
                <a:cubicBezTo>
                  <a:pt x="15629" y="13292"/>
                  <a:pt x="13811" y="15161"/>
                  <a:pt x="11059" y="15161"/>
                </a:cubicBezTo>
                <a:close/>
              </a:path>
            </a:pathLst>
          </a:custGeom>
          <a:solidFill>
            <a:srgbClr val="A74A41"/>
          </a:solidFill>
          <a:ln>
            <a:noFill/>
          </a:ln>
        </p:spPr>
        <p:txBody>
          <a:bodyPr spcFirstLastPara="1" wrap="square" lIns="48200" tIns="48200" rIns="48200" bIns="48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4"/>
          <p:cNvSpPr/>
          <p:nvPr/>
        </p:nvSpPr>
        <p:spPr>
          <a:xfrm>
            <a:off x="6010592" y="2530291"/>
            <a:ext cx="125885" cy="14427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00" y="0"/>
                </a:moveTo>
                <a:cubicBezTo>
                  <a:pt x="17213" y="0"/>
                  <a:pt x="17213" y="0"/>
                  <a:pt x="17213" y="0"/>
                </a:cubicBezTo>
                <a:cubicBezTo>
                  <a:pt x="16714" y="0"/>
                  <a:pt x="16214" y="486"/>
                  <a:pt x="16214" y="1362"/>
                </a:cubicBezTo>
                <a:cubicBezTo>
                  <a:pt x="16214" y="21600"/>
                  <a:pt x="16214" y="21600"/>
                  <a:pt x="16214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362"/>
                  <a:pt x="21600" y="1362"/>
                  <a:pt x="21600" y="1362"/>
                </a:cubicBezTo>
                <a:cubicBezTo>
                  <a:pt x="21600" y="486"/>
                  <a:pt x="21100" y="0"/>
                  <a:pt x="20600" y="0"/>
                </a:cubicBezTo>
                <a:close/>
                <a:moveTo>
                  <a:pt x="12271" y="7346"/>
                </a:moveTo>
                <a:cubicBezTo>
                  <a:pt x="9329" y="7346"/>
                  <a:pt x="9329" y="7346"/>
                  <a:pt x="9329" y="7346"/>
                </a:cubicBezTo>
                <a:cubicBezTo>
                  <a:pt x="8329" y="7346"/>
                  <a:pt x="7829" y="7784"/>
                  <a:pt x="7829" y="8659"/>
                </a:cubicBezTo>
                <a:cubicBezTo>
                  <a:pt x="7829" y="21600"/>
                  <a:pt x="7829" y="21600"/>
                  <a:pt x="7829" y="21600"/>
                </a:cubicBezTo>
                <a:cubicBezTo>
                  <a:pt x="13771" y="21600"/>
                  <a:pt x="13771" y="21600"/>
                  <a:pt x="13771" y="21600"/>
                </a:cubicBezTo>
                <a:cubicBezTo>
                  <a:pt x="13771" y="8659"/>
                  <a:pt x="13771" y="8659"/>
                  <a:pt x="13771" y="8659"/>
                </a:cubicBezTo>
                <a:cubicBezTo>
                  <a:pt x="13771" y="7784"/>
                  <a:pt x="12771" y="7346"/>
                  <a:pt x="12271" y="7346"/>
                </a:cubicBezTo>
                <a:close/>
                <a:moveTo>
                  <a:pt x="3887" y="14692"/>
                </a:moveTo>
                <a:cubicBezTo>
                  <a:pt x="944" y="14692"/>
                  <a:pt x="944" y="14692"/>
                  <a:pt x="944" y="14692"/>
                </a:cubicBezTo>
                <a:cubicBezTo>
                  <a:pt x="0" y="14692"/>
                  <a:pt x="0" y="15081"/>
                  <a:pt x="0" y="15519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5386" y="21600"/>
                  <a:pt x="5386" y="21600"/>
                  <a:pt x="5386" y="21600"/>
                </a:cubicBezTo>
                <a:cubicBezTo>
                  <a:pt x="5386" y="15519"/>
                  <a:pt x="5386" y="15519"/>
                  <a:pt x="5386" y="15519"/>
                </a:cubicBezTo>
                <a:cubicBezTo>
                  <a:pt x="5386" y="15081"/>
                  <a:pt x="4886" y="14692"/>
                  <a:pt x="3887" y="14692"/>
                </a:cubicBezTo>
                <a:close/>
              </a:path>
            </a:pathLst>
          </a:custGeom>
          <a:solidFill>
            <a:srgbClr val="A74A41"/>
          </a:solidFill>
          <a:ln>
            <a:noFill/>
          </a:ln>
        </p:spPr>
        <p:txBody>
          <a:bodyPr spcFirstLastPara="1" wrap="square" lIns="48200" tIns="48200" rIns="48200" bIns="48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34"/>
          <p:cNvGrpSpPr/>
          <p:nvPr/>
        </p:nvGrpSpPr>
        <p:grpSpPr>
          <a:xfrm rot="360000">
            <a:off x="5987402" y="3406240"/>
            <a:ext cx="172264" cy="182988"/>
            <a:chOff x="-1" y="-1"/>
            <a:chExt cx="229683" cy="243982"/>
          </a:xfrm>
          <a:solidFill>
            <a:srgbClr val="A74A41"/>
          </a:solidFill>
        </p:grpSpPr>
        <p:sp>
          <p:nvSpPr>
            <p:cNvPr id="234" name="Google Shape;234;p34"/>
            <p:cNvSpPr/>
            <p:nvPr/>
          </p:nvSpPr>
          <p:spPr>
            <a:xfrm rot="-293046">
              <a:off x="5968" y="91567"/>
              <a:ext cx="146409" cy="14644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185" y="0"/>
                  </a:moveTo>
                  <a:cubicBezTo>
                    <a:pt x="4874" y="0"/>
                    <a:pt x="0" y="4863"/>
                    <a:pt x="0" y="11158"/>
                  </a:cubicBezTo>
                  <a:cubicBezTo>
                    <a:pt x="0" y="16686"/>
                    <a:pt x="4874" y="21600"/>
                    <a:pt x="11185" y="21600"/>
                  </a:cubicBezTo>
                  <a:cubicBezTo>
                    <a:pt x="16726" y="21600"/>
                    <a:pt x="21600" y="16686"/>
                    <a:pt x="21600" y="11158"/>
                  </a:cubicBezTo>
                  <a:cubicBezTo>
                    <a:pt x="21600" y="4863"/>
                    <a:pt x="16726" y="0"/>
                    <a:pt x="11185" y="0"/>
                  </a:cubicBezTo>
                  <a:close/>
                  <a:moveTo>
                    <a:pt x="11185" y="16072"/>
                  </a:moveTo>
                  <a:cubicBezTo>
                    <a:pt x="11185" y="18119"/>
                    <a:pt x="11185" y="18119"/>
                    <a:pt x="11185" y="18119"/>
                  </a:cubicBezTo>
                  <a:cubicBezTo>
                    <a:pt x="10467" y="18119"/>
                    <a:pt x="10467" y="18119"/>
                    <a:pt x="10467" y="18119"/>
                  </a:cubicBezTo>
                  <a:cubicBezTo>
                    <a:pt x="10467" y="16072"/>
                    <a:pt x="10467" y="16072"/>
                    <a:pt x="10467" y="16072"/>
                  </a:cubicBezTo>
                  <a:cubicBezTo>
                    <a:pt x="9081" y="16072"/>
                    <a:pt x="8363" y="16072"/>
                    <a:pt x="7696" y="15355"/>
                  </a:cubicBezTo>
                  <a:cubicBezTo>
                    <a:pt x="8363" y="14639"/>
                    <a:pt x="8363" y="14639"/>
                    <a:pt x="8363" y="14639"/>
                  </a:cubicBezTo>
                  <a:cubicBezTo>
                    <a:pt x="9081" y="14639"/>
                    <a:pt x="9748" y="15355"/>
                    <a:pt x="10467" y="15355"/>
                  </a:cubicBezTo>
                  <a:cubicBezTo>
                    <a:pt x="11852" y="15355"/>
                    <a:pt x="12519" y="14639"/>
                    <a:pt x="12519" y="13257"/>
                  </a:cubicBezTo>
                  <a:cubicBezTo>
                    <a:pt x="12519" y="12540"/>
                    <a:pt x="11852" y="11824"/>
                    <a:pt x="10467" y="11158"/>
                  </a:cubicBezTo>
                  <a:cubicBezTo>
                    <a:pt x="9081" y="10493"/>
                    <a:pt x="7696" y="9776"/>
                    <a:pt x="7696" y="8343"/>
                  </a:cubicBezTo>
                  <a:cubicBezTo>
                    <a:pt x="7696" y="6910"/>
                    <a:pt x="9081" y="5579"/>
                    <a:pt x="10467" y="5579"/>
                  </a:cubicBezTo>
                  <a:cubicBezTo>
                    <a:pt x="10467" y="3481"/>
                    <a:pt x="10467" y="3481"/>
                    <a:pt x="10467" y="3481"/>
                  </a:cubicBezTo>
                  <a:cubicBezTo>
                    <a:pt x="11852" y="3481"/>
                    <a:pt x="11852" y="3481"/>
                    <a:pt x="11852" y="3481"/>
                  </a:cubicBezTo>
                  <a:cubicBezTo>
                    <a:pt x="11852" y="5579"/>
                    <a:pt x="11852" y="5579"/>
                    <a:pt x="11852" y="5579"/>
                  </a:cubicBezTo>
                  <a:cubicBezTo>
                    <a:pt x="12519" y="5579"/>
                    <a:pt x="13237" y="5579"/>
                    <a:pt x="13955" y="6296"/>
                  </a:cubicBezTo>
                  <a:cubicBezTo>
                    <a:pt x="13237" y="6910"/>
                    <a:pt x="13237" y="6910"/>
                    <a:pt x="13237" y="6910"/>
                  </a:cubicBezTo>
                  <a:cubicBezTo>
                    <a:pt x="13237" y="6910"/>
                    <a:pt x="12519" y="6296"/>
                    <a:pt x="11185" y="6296"/>
                  </a:cubicBezTo>
                  <a:cubicBezTo>
                    <a:pt x="9748" y="6296"/>
                    <a:pt x="9081" y="7627"/>
                    <a:pt x="9081" y="8343"/>
                  </a:cubicBezTo>
                  <a:cubicBezTo>
                    <a:pt x="9081" y="9060"/>
                    <a:pt x="9748" y="9776"/>
                    <a:pt x="11852" y="9776"/>
                  </a:cubicBezTo>
                  <a:cubicBezTo>
                    <a:pt x="13237" y="11158"/>
                    <a:pt x="13955" y="11824"/>
                    <a:pt x="13955" y="13257"/>
                  </a:cubicBezTo>
                  <a:cubicBezTo>
                    <a:pt x="13955" y="14639"/>
                    <a:pt x="13237" y="16072"/>
                    <a:pt x="11185" y="160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100"/>
                <a:buFont typeface="Lato Light"/>
                <a:buNone/>
              </a:pPr>
              <a:endParaRPr sz="1100" b="0" i="0" u="none" strike="noStrike" cap="none" dirty="0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4"/>
            <p:cNvSpPr/>
            <p:nvPr/>
          </p:nvSpPr>
          <p:spPr>
            <a:xfrm rot="-293046">
              <a:off x="56063" y="6724"/>
              <a:ext cx="160170" cy="516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777" y="21600"/>
                  </a:moveTo>
                  <a:cubicBezTo>
                    <a:pt x="16515" y="21600"/>
                    <a:pt x="21600" y="15656"/>
                    <a:pt x="21600" y="9858"/>
                  </a:cubicBezTo>
                  <a:cubicBezTo>
                    <a:pt x="21600" y="3914"/>
                    <a:pt x="16515" y="0"/>
                    <a:pt x="10777" y="0"/>
                  </a:cubicBezTo>
                  <a:cubicBezTo>
                    <a:pt x="5085" y="0"/>
                    <a:pt x="0" y="3914"/>
                    <a:pt x="0" y="9858"/>
                  </a:cubicBezTo>
                  <a:cubicBezTo>
                    <a:pt x="0" y="15656"/>
                    <a:pt x="5085" y="21600"/>
                    <a:pt x="10777" y="2160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100"/>
                <a:buFont typeface="Lato Light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4"/>
            <p:cNvSpPr/>
            <p:nvPr/>
          </p:nvSpPr>
          <p:spPr>
            <a:xfrm rot="-293046">
              <a:off x="58797" y="47893"/>
              <a:ext cx="160170" cy="3329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947" y="0"/>
                  </a:moveTo>
                  <a:cubicBezTo>
                    <a:pt x="18381" y="5912"/>
                    <a:pt x="13996" y="9095"/>
                    <a:pt x="10777" y="9095"/>
                  </a:cubicBezTo>
                  <a:cubicBezTo>
                    <a:pt x="7604" y="9095"/>
                    <a:pt x="3126" y="5912"/>
                    <a:pt x="606" y="0"/>
                  </a:cubicBezTo>
                  <a:cubicBezTo>
                    <a:pt x="0" y="2728"/>
                    <a:pt x="0" y="2728"/>
                    <a:pt x="0" y="5912"/>
                  </a:cubicBezTo>
                  <a:cubicBezTo>
                    <a:pt x="0" y="15461"/>
                    <a:pt x="5085" y="21600"/>
                    <a:pt x="10777" y="21600"/>
                  </a:cubicBezTo>
                  <a:cubicBezTo>
                    <a:pt x="16515" y="21600"/>
                    <a:pt x="21600" y="15461"/>
                    <a:pt x="21600" y="5912"/>
                  </a:cubicBezTo>
                  <a:cubicBezTo>
                    <a:pt x="21600" y="2728"/>
                    <a:pt x="21600" y="2728"/>
                    <a:pt x="20947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100"/>
                <a:buFont typeface="Lato Light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4"/>
            <p:cNvSpPr/>
            <p:nvPr/>
          </p:nvSpPr>
          <p:spPr>
            <a:xfrm rot="-293046">
              <a:off x="59907" y="74273"/>
              <a:ext cx="14924" cy="1270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cubicBezTo>
                    <a:pt x="21600" y="21600"/>
                    <a:pt x="14224" y="21600"/>
                    <a:pt x="6849" y="0"/>
                  </a:cubicBezTo>
                  <a:cubicBezTo>
                    <a:pt x="6849" y="21600"/>
                    <a:pt x="0" y="21600"/>
                    <a:pt x="0" y="21600"/>
                  </a:cubicBezTo>
                  <a:cubicBezTo>
                    <a:pt x="6849" y="21600"/>
                    <a:pt x="14224" y="21600"/>
                    <a:pt x="21600" y="2160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100"/>
                <a:buFont typeface="Lato Light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4"/>
            <p:cNvSpPr/>
            <p:nvPr/>
          </p:nvSpPr>
          <p:spPr>
            <a:xfrm rot="-293046">
              <a:off x="108185" y="70252"/>
              <a:ext cx="112780" cy="3329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675" y="0"/>
                  </a:moveTo>
                  <a:cubicBezTo>
                    <a:pt x="17042" y="6139"/>
                    <a:pt x="10833" y="9095"/>
                    <a:pt x="6275" y="9095"/>
                  </a:cubicBezTo>
                  <a:cubicBezTo>
                    <a:pt x="4492" y="9095"/>
                    <a:pt x="1783" y="9095"/>
                    <a:pt x="0" y="9095"/>
                  </a:cubicBezTo>
                  <a:cubicBezTo>
                    <a:pt x="1783" y="12278"/>
                    <a:pt x="3567" y="15234"/>
                    <a:pt x="5417" y="21600"/>
                  </a:cubicBezTo>
                  <a:lnTo>
                    <a:pt x="6275" y="21600"/>
                  </a:lnTo>
                  <a:cubicBezTo>
                    <a:pt x="14400" y="21600"/>
                    <a:pt x="21600" y="15234"/>
                    <a:pt x="21600" y="6139"/>
                  </a:cubicBezTo>
                  <a:cubicBezTo>
                    <a:pt x="21600" y="2728"/>
                    <a:pt x="21600" y="2728"/>
                    <a:pt x="20675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100"/>
                <a:buFont typeface="Lato Light"/>
                <a:buNone/>
              </a:pPr>
              <a:endParaRPr sz="1100" b="0" i="0" u="none" strike="noStrike" cap="none" dirty="0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4"/>
            <p:cNvSpPr/>
            <p:nvPr/>
          </p:nvSpPr>
          <p:spPr>
            <a:xfrm rot="-293046">
              <a:off x="143705" y="91609"/>
              <a:ext cx="80675" cy="3329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297" y="0"/>
                  </a:moveTo>
                  <a:cubicBezTo>
                    <a:pt x="15176" y="9225"/>
                    <a:pt x="6424" y="9225"/>
                    <a:pt x="0" y="9225"/>
                  </a:cubicBezTo>
                  <a:cubicBezTo>
                    <a:pt x="1210" y="12150"/>
                    <a:pt x="1210" y="18450"/>
                    <a:pt x="2514" y="21600"/>
                  </a:cubicBezTo>
                  <a:cubicBezTo>
                    <a:pt x="12755" y="21600"/>
                    <a:pt x="21600" y="15300"/>
                    <a:pt x="21600" y="6300"/>
                  </a:cubicBezTo>
                  <a:cubicBezTo>
                    <a:pt x="21600" y="3150"/>
                    <a:pt x="21600" y="3150"/>
                    <a:pt x="20297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100"/>
                <a:buFont typeface="Lato Light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4"/>
            <p:cNvSpPr/>
            <p:nvPr/>
          </p:nvSpPr>
          <p:spPr>
            <a:xfrm rot="-293046">
              <a:off x="154813" y="114072"/>
              <a:ext cx="71501" cy="3329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125" y="0"/>
                  </a:moveTo>
                  <a:cubicBezTo>
                    <a:pt x="15805" y="6300"/>
                    <a:pt x="7165" y="9000"/>
                    <a:pt x="0" y="9000"/>
                  </a:cubicBezTo>
                  <a:cubicBezTo>
                    <a:pt x="1475" y="12150"/>
                    <a:pt x="1475" y="18450"/>
                    <a:pt x="1475" y="21600"/>
                  </a:cubicBezTo>
                  <a:cubicBezTo>
                    <a:pt x="12960" y="21600"/>
                    <a:pt x="21600" y="15300"/>
                    <a:pt x="21600" y="6300"/>
                  </a:cubicBezTo>
                  <a:cubicBezTo>
                    <a:pt x="21600" y="3150"/>
                    <a:pt x="21600" y="3150"/>
                    <a:pt x="20125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100"/>
                <a:buFont typeface="Lato Light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4"/>
            <p:cNvSpPr/>
            <p:nvPr/>
          </p:nvSpPr>
          <p:spPr>
            <a:xfrm rot="-293046">
              <a:off x="161474" y="138253"/>
              <a:ext cx="66913" cy="3329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017" y="0"/>
                  </a:moveTo>
                  <a:cubicBezTo>
                    <a:pt x="15380" y="6300"/>
                    <a:pt x="7690" y="9450"/>
                    <a:pt x="0" y="9450"/>
                  </a:cubicBezTo>
                  <a:lnTo>
                    <a:pt x="0" y="12375"/>
                  </a:lnTo>
                  <a:cubicBezTo>
                    <a:pt x="0" y="15300"/>
                    <a:pt x="0" y="18450"/>
                    <a:pt x="0" y="21600"/>
                  </a:cubicBezTo>
                  <a:cubicBezTo>
                    <a:pt x="12327" y="21600"/>
                    <a:pt x="21600" y="15300"/>
                    <a:pt x="21600" y="6300"/>
                  </a:cubicBezTo>
                  <a:cubicBezTo>
                    <a:pt x="21600" y="3150"/>
                    <a:pt x="21600" y="3150"/>
                    <a:pt x="20017" y="0"/>
                  </a:cubicBezTo>
                </a:path>
              </a:pathLst>
            </a:custGeom>
            <a:grp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100"/>
                <a:buFont typeface="Lato Light"/>
                <a:buNone/>
              </a:pPr>
              <a:endParaRPr sz="1100" b="0" i="0" u="none" strike="noStrike" cap="none">
                <a:solidFill>
                  <a:srgbClr val="632B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227;p34">
            <a:extLst>
              <a:ext uri="{FF2B5EF4-FFF2-40B4-BE49-F238E27FC236}">
                <a16:creationId xmlns:a16="http://schemas.microsoft.com/office/drawing/2014/main" id="{B5EACF9B-A5DE-4CE0-AE78-DAD2D760C3E5}"/>
              </a:ext>
            </a:extLst>
          </p:cNvPr>
          <p:cNvSpPr txBox="1"/>
          <p:nvPr/>
        </p:nvSpPr>
        <p:spPr>
          <a:xfrm>
            <a:off x="6392310" y="4148531"/>
            <a:ext cx="2102325" cy="23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 account growth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15" name="Google Shape;230;p34">
            <a:extLst>
              <a:ext uri="{FF2B5EF4-FFF2-40B4-BE49-F238E27FC236}">
                <a16:creationId xmlns:a16="http://schemas.microsoft.com/office/drawing/2014/main" id="{5EDEF3A6-AA52-7BC7-8F65-8A80A246CA35}"/>
              </a:ext>
            </a:extLst>
          </p:cNvPr>
          <p:cNvSpPr/>
          <p:nvPr/>
        </p:nvSpPr>
        <p:spPr>
          <a:xfrm>
            <a:off x="5886254" y="4086117"/>
            <a:ext cx="374558" cy="374558"/>
          </a:xfrm>
          <a:prstGeom prst="ellipse">
            <a:avLst/>
          </a:prstGeom>
          <a:solidFill>
            <a:srgbClr val="617985">
              <a:alpha val="2117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420;p38">
            <a:extLst>
              <a:ext uri="{FF2B5EF4-FFF2-40B4-BE49-F238E27FC236}">
                <a16:creationId xmlns:a16="http://schemas.microsoft.com/office/drawing/2014/main" id="{5670975E-AF2E-A881-BE5D-8C209946DA09}"/>
              </a:ext>
            </a:extLst>
          </p:cNvPr>
          <p:cNvSpPr/>
          <p:nvPr/>
        </p:nvSpPr>
        <p:spPr>
          <a:xfrm>
            <a:off x="6007543" y="4211198"/>
            <a:ext cx="127104" cy="101119"/>
          </a:xfrm>
          <a:custGeom>
            <a:avLst/>
            <a:gdLst/>
            <a:ahLst/>
            <a:cxnLst/>
            <a:rect l="l" t="t" r="r" b="b"/>
            <a:pathLst>
              <a:path w="21511" h="21475" extrusionOk="0">
                <a:moveTo>
                  <a:pt x="21155" y="375"/>
                </a:moveTo>
                <a:cubicBezTo>
                  <a:pt x="16444" y="10703"/>
                  <a:pt x="16444" y="10703"/>
                  <a:pt x="16444" y="10703"/>
                </a:cubicBezTo>
                <a:cubicBezTo>
                  <a:pt x="16044" y="11202"/>
                  <a:pt x="15644" y="11202"/>
                  <a:pt x="15244" y="10703"/>
                </a:cubicBezTo>
                <a:cubicBezTo>
                  <a:pt x="12889" y="8204"/>
                  <a:pt x="12889" y="8204"/>
                  <a:pt x="12889" y="8204"/>
                </a:cubicBezTo>
                <a:cubicBezTo>
                  <a:pt x="12489" y="7704"/>
                  <a:pt x="12489" y="7704"/>
                  <a:pt x="12089" y="8204"/>
                </a:cubicBezTo>
                <a:cubicBezTo>
                  <a:pt x="8533" y="14645"/>
                  <a:pt x="8533" y="14645"/>
                  <a:pt x="8533" y="14645"/>
                </a:cubicBezTo>
                <a:cubicBezTo>
                  <a:pt x="8533" y="15145"/>
                  <a:pt x="8178" y="15145"/>
                  <a:pt x="7778" y="14645"/>
                </a:cubicBezTo>
                <a:cubicBezTo>
                  <a:pt x="6178" y="13146"/>
                  <a:pt x="6178" y="13146"/>
                  <a:pt x="6178" y="13146"/>
                </a:cubicBezTo>
                <a:cubicBezTo>
                  <a:pt x="5778" y="12646"/>
                  <a:pt x="5378" y="12646"/>
                  <a:pt x="5378" y="13146"/>
                </a:cubicBezTo>
                <a:cubicBezTo>
                  <a:pt x="267" y="21031"/>
                  <a:pt x="267" y="21031"/>
                  <a:pt x="267" y="21031"/>
                </a:cubicBezTo>
                <a:cubicBezTo>
                  <a:pt x="-89" y="21475"/>
                  <a:pt x="-89" y="21475"/>
                  <a:pt x="267" y="21475"/>
                </a:cubicBezTo>
                <a:cubicBezTo>
                  <a:pt x="21511" y="21475"/>
                  <a:pt x="21511" y="21475"/>
                  <a:pt x="21511" y="21475"/>
                </a:cubicBezTo>
                <a:cubicBezTo>
                  <a:pt x="21511" y="375"/>
                  <a:pt x="21511" y="375"/>
                  <a:pt x="21511" y="375"/>
                </a:cubicBezTo>
                <a:cubicBezTo>
                  <a:pt x="21511" y="-125"/>
                  <a:pt x="21511" y="-125"/>
                  <a:pt x="21155" y="375"/>
                </a:cubicBezTo>
              </a:path>
            </a:pathLst>
          </a:custGeom>
          <a:solidFill>
            <a:srgbClr val="A74A41"/>
          </a:solidFill>
          <a:ln>
            <a:noFill/>
          </a:ln>
        </p:spPr>
        <p:txBody>
          <a:bodyPr spcFirstLastPara="1" wrap="square" lIns="48200" tIns="48200" rIns="48200" bIns="48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picture containing text, screenshot, design&#10;&#10;Description automatically generated">
            <a:extLst>
              <a:ext uri="{FF2B5EF4-FFF2-40B4-BE49-F238E27FC236}">
                <a16:creationId xmlns:a16="http://schemas.microsoft.com/office/drawing/2014/main" id="{603B6ED1-3A8E-773A-8716-3301E432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4" y="1602188"/>
            <a:ext cx="4363985" cy="2950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/>
        </p:nvSpPr>
        <p:spPr>
          <a:xfrm>
            <a:off x="384472" y="590538"/>
            <a:ext cx="7167935" cy="376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100"/>
              <a:buFont typeface="Helvetica Neue"/>
              <a:buNone/>
            </a:pPr>
            <a:r>
              <a:rPr lang="en-US" sz="20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Paya facilitates a connection between buyers and sellers</a:t>
            </a:r>
            <a:endParaRPr sz="2000" dirty="0">
              <a:solidFill>
                <a:srgbClr val="632B26"/>
              </a:solidFill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396022" y="193448"/>
            <a:ext cx="3990821" cy="28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1400" b="0" i="0" u="none" strike="noStrike" cap="none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Total</a:t>
            </a:r>
            <a:r>
              <a:rPr lang="en" sz="1400" b="0" i="0" u="none" strike="noStrike" cap="none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400" b="1" i="0" u="none" strike="noStrike" cap="none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Addressable Market</a:t>
            </a:r>
            <a:endParaRPr sz="1100">
              <a:solidFill>
                <a:srgbClr val="632B26"/>
              </a:solidFill>
            </a:endParaRPr>
          </a:p>
        </p:txBody>
      </p:sp>
      <p:grpSp>
        <p:nvGrpSpPr>
          <p:cNvPr id="279" name="Google Shape;279;p36"/>
          <p:cNvGrpSpPr/>
          <p:nvPr/>
        </p:nvGrpSpPr>
        <p:grpSpPr>
          <a:xfrm>
            <a:off x="860092" y="1575666"/>
            <a:ext cx="3202357" cy="3212903"/>
            <a:chOff x="0" y="0"/>
            <a:chExt cx="4269808" cy="4283868"/>
          </a:xfrm>
        </p:grpSpPr>
        <p:sp>
          <p:nvSpPr>
            <p:cNvPr id="280" name="Google Shape;280;p36"/>
            <p:cNvSpPr/>
            <p:nvPr/>
          </p:nvSpPr>
          <p:spPr>
            <a:xfrm>
              <a:off x="0" y="0"/>
              <a:ext cx="4269808" cy="4269808"/>
            </a:xfrm>
            <a:prstGeom prst="ellipse">
              <a:avLst/>
            </a:prstGeom>
            <a:solidFill>
              <a:srgbClr val="A74A41"/>
            </a:solidFill>
            <a:ln>
              <a:noFill/>
            </a:ln>
            <a:effectLst>
              <a:outerShdw blurRad="698500" dist="385221" dir="5400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B8C8C"/>
                </a:buClr>
                <a:buSzPts val="1100"/>
                <a:buFont typeface="Helvetica Neue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6"/>
            <p:cNvSpPr/>
            <p:nvPr/>
          </p:nvSpPr>
          <p:spPr>
            <a:xfrm>
              <a:off x="512481" y="1039024"/>
              <a:ext cx="3244845" cy="3244844"/>
            </a:xfrm>
            <a:prstGeom prst="ellipse">
              <a:avLst/>
            </a:prstGeom>
            <a:solidFill>
              <a:srgbClr val="DB6355"/>
            </a:solidFill>
            <a:ln>
              <a:noFill/>
            </a:ln>
            <a:effectLst>
              <a:outerShdw blurRad="698500" dist="385221" dir="5400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B8C8C"/>
                </a:buClr>
                <a:buSzPts val="1100"/>
                <a:buFont typeface="Helvetica Neue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6"/>
            <p:cNvSpPr/>
            <p:nvPr/>
          </p:nvSpPr>
          <p:spPr>
            <a:xfrm>
              <a:off x="1234781" y="2472115"/>
              <a:ext cx="1800245" cy="1800245"/>
            </a:xfrm>
            <a:prstGeom prst="ellipse">
              <a:avLst/>
            </a:prstGeom>
            <a:solidFill>
              <a:srgbClr val="FFC272"/>
            </a:solidFill>
            <a:ln>
              <a:noFill/>
            </a:ln>
            <a:effectLst>
              <a:outerShdw blurRad="698500" dist="385221" dir="5400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" name="Google Shape;283;p36"/>
          <p:cNvSpPr txBox="1"/>
          <p:nvPr/>
        </p:nvSpPr>
        <p:spPr>
          <a:xfrm>
            <a:off x="1973901" y="3618461"/>
            <a:ext cx="974738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100"/>
              <a:buFont typeface="Helvetica Neue"/>
              <a:buNone/>
            </a:pPr>
            <a:r>
              <a:rPr lang="en" sz="1100" b="1" dirty="0">
                <a:solidFill>
                  <a:srgbClr val="52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</a:t>
            </a:r>
            <a:r>
              <a:rPr lang="en" sz="1100" b="1" i="0" u="none" strike="noStrike" cap="none" dirty="0">
                <a:solidFill>
                  <a:srgbClr val="52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million</a:t>
            </a:r>
            <a:endParaRPr sz="1100" dirty="0"/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5353"/>
              </a:buClr>
              <a:buSzPts val="900"/>
              <a:buFont typeface="Helvetica Neue"/>
              <a:buNone/>
            </a:pPr>
            <a:r>
              <a:rPr lang="en" sz="900" b="1" i="0" u="none" strike="noStrike" cap="none" dirty="0">
                <a:solidFill>
                  <a:srgbClr val="52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900" b="0" i="0" u="none" strike="noStrike" cap="none" dirty="0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Customers</a:t>
            </a:r>
            <a:endParaRPr sz="1100" dirty="0"/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E5E5E"/>
              </a:buClr>
              <a:buSzPts val="1100"/>
              <a:buFont typeface="Helvetica Neue Light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5353"/>
              </a:buClr>
              <a:buSzPts val="1100"/>
              <a:buFont typeface="Helvetica Neue"/>
              <a:buNone/>
            </a:pPr>
            <a:r>
              <a:rPr lang="en" sz="1100" b="1" i="0" u="none" strike="noStrike" cap="none" dirty="0">
                <a:solidFill>
                  <a:srgbClr val="52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 5B </a:t>
            </a:r>
            <a:endParaRPr sz="1100" dirty="0"/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E5E5E"/>
              </a:buClr>
              <a:buSzPts val="900"/>
              <a:buFont typeface="Helvetica Neue Light"/>
              <a:buNone/>
            </a:pPr>
            <a:r>
              <a:rPr lang="en" sz="900" b="0" i="0" u="none" strike="noStrike" cap="none" dirty="0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Loan Volume</a:t>
            </a:r>
            <a:endParaRPr sz="1100" dirty="0"/>
          </a:p>
        </p:txBody>
      </p:sp>
      <p:sp>
        <p:nvSpPr>
          <p:cNvPr id="284" name="Google Shape;284;p36"/>
          <p:cNvSpPr txBox="1"/>
          <p:nvPr/>
        </p:nvSpPr>
        <p:spPr>
          <a:xfrm>
            <a:off x="1973901" y="2743451"/>
            <a:ext cx="974738" cy="43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" sz="14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illions</a:t>
            </a:r>
            <a:endParaRPr sz="1100" dirty="0"/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 Merchants</a:t>
            </a:r>
            <a:endParaRPr sz="1100" dirty="0"/>
          </a:p>
        </p:txBody>
      </p:sp>
      <p:sp>
        <p:nvSpPr>
          <p:cNvPr id="285" name="Google Shape;285;p36"/>
          <p:cNvSpPr txBox="1"/>
          <p:nvPr/>
        </p:nvSpPr>
        <p:spPr>
          <a:xfrm>
            <a:off x="1973901" y="1925523"/>
            <a:ext cx="974738" cy="21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TBD</a:t>
            </a:r>
            <a:endParaRPr sz="1100"/>
          </a:p>
        </p:txBody>
      </p:sp>
      <p:cxnSp>
        <p:nvCxnSpPr>
          <p:cNvPr id="286" name="Google Shape;286;p36"/>
          <p:cNvCxnSpPr/>
          <p:nvPr/>
        </p:nvCxnSpPr>
        <p:spPr>
          <a:xfrm flipH="1">
            <a:off x="2876402" y="2032850"/>
            <a:ext cx="2411240" cy="1"/>
          </a:xfrm>
          <a:prstGeom prst="straightConnector1">
            <a:avLst/>
          </a:prstGeom>
          <a:noFill/>
          <a:ln w="9525" cap="flat" cmpd="sng">
            <a:solidFill>
              <a:srgbClr val="535353"/>
            </a:solidFill>
            <a:prstDash val="dashDot"/>
            <a:miter lim="400000"/>
            <a:headEnd type="none" w="sm" len="sm"/>
            <a:tailEnd type="none" w="sm" len="sm"/>
          </a:ln>
        </p:spPr>
      </p:cxnSp>
      <p:grpSp>
        <p:nvGrpSpPr>
          <p:cNvPr id="287" name="Google Shape;287;p36"/>
          <p:cNvGrpSpPr/>
          <p:nvPr/>
        </p:nvGrpSpPr>
        <p:grpSpPr>
          <a:xfrm>
            <a:off x="2729031" y="1956338"/>
            <a:ext cx="153028" cy="153027"/>
            <a:chOff x="0" y="0"/>
            <a:chExt cx="204035" cy="204035"/>
          </a:xfrm>
        </p:grpSpPr>
        <p:sp>
          <p:nvSpPr>
            <p:cNvPr id="288" name="Google Shape;288;p36"/>
            <p:cNvSpPr/>
            <p:nvPr/>
          </p:nvSpPr>
          <p:spPr>
            <a:xfrm>
              <a:off x="0" y="0"/>
              <a:ext cx="204035" cy="204035"/>
            </a:xfrm>
            <a:prstGeom prst="ellipse">
              <a:avLst/>
            </a:prstGeom>
            <a:solidFill>
              <a:srgbClr val="FFFFFF">
                <a:alpha val="10980"/>
              </a:srgb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Font typeface="Helvetica Neue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6"/>
            <p:cNvSpPr/>
            <p:nvPr/>
          </p:nvSpPr>
          <p:spPr>
            <a:xfrm>
              <a:off x="50986" y="50986"/>
              <a:ext cx="102063" cy="10206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558800" dist="502864" dir="5400000" rotWithShape="0">
                <a:srgbClr val="000000">
                  <a:alpha val="7450"/>
                </a:srgbClr>
              </a:outerShdw>
            </a:effectLst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89CD2"/>
                </a:buClr>
                <a:buSzPts val="1100"/>
                <a:buFont typeface="Rubik SemiBold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0" name="Google Shape;290;p36"/>
          <p:cNvCxnSpPr/>
          <p:nvPr/>
        </p:nvCxnSpPr>
        <p:spPr>
          <a:xfrm rot="10800000">
            <a:off x="3123824" y="2960869"/>
            <a:ext cx="2163818" cy="1"/>
          </a:xfrm>
          <a:prstGeom prst="straightConnector1">
            <a:avLst/>
          </a:prstGeom>
          <a:noFill/>
          <a:ln w="9525" cap="flat" cmpd="sng">
            <a:solidFill>
              <a:srgbClr val="535353"/>
            </a:solidFill>
            <a:prstDash val="dashDot"/>
            <a:miter lim="400000"/>
            <a:headEnd type="none" w="sm" len="sm"/>
            <a:tailEnd type="none" w="sm" len="sm"/>
          </a:ln>
        </p:spPr>
      </p:cxnSp>
      <p:cxnSp>
        <p:nvCxnSpPr>
          <p:cNvPr id="291" name="Google Shape;291;p36"/>
          <p:cNvCxnSpPr/>
          <p:nvPr/>
        </p:nvCxnSpPr>
        <p:spPr>
          <a:xfrm flipH="1">
            <a:off x="3030104" y="4107056"/>
            <a:ext cx="2257537" cy="1"/>
          </a:xfrm>
          <a:prstGeom prst="straightConnector1">
            <a:avLst/>
          </a:prstGeom>
          <a:noFill/>
          <a:ln w="9525" cap="flat" cmpd="sng">
            <a:solidFill>
              <a:srgbClr val="535353"/>
            </a:solidFill>
            <a:prstDash val="dashDot"/>
            <a:miter lim="400000"/>
            <a:headEnd type="none" w="sm" len="sm"/>
            <a:tailEnd type="none" w="sm" len="sm"/>
          </a:ln>
        </p:spPr>
      </p:cxnSp>
      <p:grpSp>
        <p:nvGrpSpPr>
          <p:cNvPr id="292" name="Google Shape;292;p36"/>
          <p:cNvGrpSpPr/>
          <p:nvPr/>
        </p:nvGrpSpPr>
        <p:grpSpPr>
          <a:xfrm>
            <a:off x="2972867" y="2884355"/>
            <a:ext cx="153027" cy="153028"/>
            <a:chOff x="0" y="0"/>
            <a:chExt cx="204035" cy="204035"/>
          </a:xfrm>
        </p:grpSpPr>
        <p:sp>
          <p:nvSpPr>
            <p:cNvPr id="293" name="Google Shape;293;p36"/>
            <p:cNvSpPr/>
            <p:nvPr/>
          </p:nvSpPr>
          <p:spPr>
            <a:xfrm>
              <a:off x="0" y="0"/>
              <a:ext cx="204035" cy="204035"/>
            </a:xfrm>
            <a:prstGeom prst="ellipse">
              <a:avLst/>
            </a:prstGeom>
            <a:solidFill>
              <a:srgbClr val="FFFFFF">
                <a:alpha val="10980"/>
              </a:srgb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Font typeface="Helvetica Neue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6"/>
            <p:cNvSpPr/>
            <p:nvPr/>
          </p:nvSpPr>
          <p:spPr>
            <a:xfrm>
              <a:off x="50986" y="50986"/>
              <a:ext cx="102063" cy="102062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558800" dist="502864" dir="5400000" rotWithShape="0">
                <a:srgbClr val="000000">
                  <a:alpha val="7450"/>
                </a:srgbClr>
              </a:outerShdw>
            </a:effectLst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89CD2"/>
                </a:buClr>
                <a:buSzPts val="1100"/>
                <a:buFont typeface="Rubik SemiBold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36"/>
          <p:cNvGrpSpPr/>
          <p:nvPr/>
        </p:nvGrpSpPr>
        <p:grpSpPr>
          <a:xfrm>
            <a:off x="2875789" y="4030543"/>
            <a:ext cx="153028" cy="153027"/>
            <a:chOff x="0" y="0"/>
            <a:chExt cx="204035" cy="204035"/>
          </a:xfrm>
        </p:grpSpPr>
        <p:sp>
          <p:nvSpPr>
            <p:cNvPr id="296" name="Google Shape;296;p36"/>
            <p:cNvSpPr/>
            <p:nvPr/>
          </p:nvSpPr>
          <p:spPr>
            <a:xfrm>
              <a:off x="0" y="0"/>
              <a:ext cx="204035" cy="204035"/>
            </a:xfrm>
            <a:prstGeom prst="ellipse">
              <a:avLst/>
            </a:prstGeom>
            <a:solidFill>
              <a:srgbClr val="000000">
                <a:alpha val="10980"/>
              </a:srgb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Font typeface="Helvetica Neue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6"/>
            <p:cNvSpPr/>
            <p:nvPr/>
          </p:nvSpPr>
          <p:spPr>
            <a:xfrm>
              <a:off x="50986" y="50986"/>
              <a:ext cx="102063" cy="102062"/>
            </a:xfrm>
            <a:prstGeom prst="ellipse">
              <a:avLst/>
            </a:prstGeom>
            <a:solidFill>
              <a:srgbClr val="A7A7A7"/>
            </a:solidFill>
            <a:ln>
              <a:noFill/>
            </a:ln>
            <a:effectLst>
              <a:outerShdw blurRad="558800" dist="502864" dir="5400000" rotWithShape="0">
                <a:srgbClr val="000000">
                  <a:alpha val="7450"/>
                </a:srgbClr>
              </a:outerShdw>
            </a:effectLst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89CD2"/>
                </a:buClr>
                <a:buSzPts val="1100"/>
                <a:buFont typeface="Rubik SemiBold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36"/>
          <p:cNvGrpSpPr/>
          <p:nvPr/>
        </p:nvGrpSpPr>
        <p:grpSpPr>
          <a:xfrm>
            <a:off x="5220275" y="1956338"/>
            <a:ext cx="153027" cy="153027"/>
            <a:chOff x="0" y="0"/>
            <a:chExt cx="204035" cy="204035"/>
          </a:xfrm>
        </p:grpSpPr>
        <p:sp>
          <p:nvSpPr>
            <p:cNvPr id="299" name="Google Shape;299;p36"/>
            <p:cNvSpPr/>
            <p:nvPr/>
          </p:nvSpPr>
          <p:spPr>
            <a:xfrm>
              <a:off x="0" y="0"/>
              <a:ext cx="204035" cy="204035"/>
            </a:xfrm>
            <a:prstGeom prst="ellipse">
              <a:avLst/>
            </a:prstGeom>
            <a:solidFill>
              <a:srgbClr val="000000">
                <a:alpha val="10980"/>
              </a:srgb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Font typeface="Helvetica Neue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6"/>
            <p:cNvSpPr/>
            <p:nvPr/>
          </p:nvSpPr>
          <p:spPr>
            <a:xfrm>
              <a:off x="50986" y="50986"/>
              <a:ext cx="102063" cy="102062"/>
            </a:xfrm>
            <a:prstGeom prst="ellipse">
              <a:avLst/>
            </a:prstGeom>
            <a:solidFill>
              <a:srgbClr val="A74A41"/>
            </a:solidFill>
            <a:ln>
              <a:noFill/>
            </a:ln>
            <a:effectLst>
              <a:outerShdw blurRad="558800" dist="502864" dir="5400000" rotWithShape="0">
                <a:srgbClr val="000000">
                  <a:alpha val="7450"/>
                </a:srgbClr>
              </a:outerShdw>
            </a:effectLst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89CD2"/>
                </a:buClr>
                <a:buSzPts val="1100"/>
                <a:buFont typeface="Rubik SemiBold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Google Shape;301;p36"/>
          <p:cNvGrpSpPr/>
          <p:nvPr/>
        </p:nvGrpSpPr>
        <p:grpSpPr>
          <a:xfrm>
            <a:off x="5220275" y="2884355"/>
            <a:ext cx="153027" cy="153028"/>
            <a:chOff x="0" y="0"/>
            <a:chExt cx="204035" cy="204035"/>
          </a:xfrm>
        </p:grpSpPr>
        <p:sp>
          <p:nvSpPr>
            <p:cNvPr id="302" name="Google Shape;302;p36"/>
            <p:cNvSpPr/>
            <p:nvPr/>
          </p:nvSpPr>
          <p:spPr>
            <a:xfrm>
              <a:off x="0" y="0"/>
              <a:ext cx="204035" cy="204035"/>
            </a:xfrm>
            <a:prstGeom prst="ellipse">
              <a:avLst/>
            </a:prstGeom>
            <a:solidFill>
              <a:srgbClr val="000000">
                <a:alpha val="10980"/>
              </a:srgb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Font typeface="Helvetica Neue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6"/>
            <p:cNvSpPr/>
            <p:nvPr/>
          </p:nvSpPr>
          <p:spPr>
            <a:xfrm>
              <a:off x="50986" y="50986"/>
              <a:ext cx="102063" cy="102062"/>
            </a:xfrm>
            <a:prstGeom prst="ellipse">
              <a:avLst/>
            </a:prstGeom>
            <a:solidFill>
              <a:srgbClr val="DB6355"/>
            </a:solidFill>
            <a:ln>
              <a:noFill/>
            </a:ln>
            <a:effectLst>
              <a:outerShdw blurRad="558800" dist="502864" dir="5400000" rotWithShape="0">
                <a:srgbClr val="000000">
                  <a:alpha val="7450"/>
                </a:srgbClr>
              </a:outerShdw>
            </a:effectLst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89CD2"/>
                </a:buClr>
                <a:buSzPts val="1100"/>
                <a:buFont typeface="Rubik SemiBold"/>
                <a:buNone/>
              </a:pPr>
              <a:endParaRPr sz="1100" b="0" i="0" u="none" strike="noStrike" cap="none" dirty="0">
                <a:solidFill>
                  <a:srgbClr val="DB63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36"/>
          <p:cNvGrpSpPr/>
          <p:nvPr/>
        </p:nvGrpSpPr>
        <p:grpSpPr>
          <a:xfrm>
            <a:off x="5220275" y="4030543"/>
            <a:ext cx="153027" cy="153027"/>
            <a:chOff x="0" y="0"/>
            <a:chExt cx="204035" cy="204035"/>
          </a:xfrm>
        </p:grpSpPr>
        <p:sp>
          <p:nvSpPr>
            <p:cNvPr id="305" name="Google Shape;305;p36"/>
            <p:cNvSpPr/>
            <p:nvPr/>
          </p:nvSpPr>
          <p:spPr>
            <a:xfrm>
              <a:off x="0" y="0"/>
              <a:ext cx="204035" cy="204035"/>
            </a:xfrm>
            <a:prstGeom prst="ellipse">
              <a:avLst/>
            </a:prstGeom>
            <a:solidFill>
              <a:srgbClr val="000000">
                <a:alpha val="10980"/>
              </a:srgbClr>
            </a:solidFill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100"/>
                <a:buFont typeface="Helvetica Neue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6"/>
            <p:cNvSpPr/>
            <p:nvPr/>
          </p:nvSpPr>
          <p:spPr>
            <a:xfrm>
              <a:off x="50986" y="50986"/>
              <a:ext cx="102063" cy="102062"/>
            </a:xfrm>
            <a:prstGeom prst="ellipse">
              <a:avLst/>
            </a:prstGeom>
            <a:solidFill>
              <a:srgbClr val="A7A7A7"/>
            </a:solidFill>
            <a:ln>
              <a:noFill/>
            </a:ln>
            <a:effectLst>
              <a:outerShdw blurRad="558800" dist="502864" dir="5400000" rotWithShape="0">
                <a:srgbClr val="000000">
                  <a:alpha val="7450"/>
                </a:srgbClr>
              </a:outerShdw>
            </a:effectLst>
          </p:spPr>
          <p:txBody>
            <a:bodyPr spcFirstLastPara="1" wrap="square" lIns="34275" tIns="34275" rIns="342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89CD2"/>
                </a:buClr>
                <a:buSzPts val="1100"/>
                <a:buFont typeface="Rubik SemiBold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36"/>
          <p:cNvSpPr txBox="1"/>
          <p:nvPr/>
        </p:nvSpPr>
        <p:spPr>
          <a:xfrm>
            <a:off x="5672050" y="3864879"/>
            <a:ext cx="2525183" cy="21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52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Immediate Market Opportunity</a:t>
            </a:r>
            <a:endParaRPr sz="1100" dirty="0"/>
          </a:p>
        </p:txBody>
      </p:sp>
      <p:sp>
        <p:nvSpPr>
          <p:cNvPr id="315" name="Google Shape;315;p36"/>
          <p:cNvSpPr txBox="1"/>
          <p:nvPr/>
        </p:nvSpPr>
        <p:spPr>
          <a:xfrm>
            <a:off x="5672054" y="2792150"/>
            <a:ext cx="2525176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9FB4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DB63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Adjacent Market Opportunity </a:t>
            </a:r>
            <a:endParaRPr sz="1100" dirty="0">
              <a:solidFill>
                <a:srgbClr val="DB6355"/>
              </a:solidFill>
            </a:endParaRPr>
          </a:p>
        </p:txBody>
      </p:sp>
      <p:sp>
        <p:nvSpPr>
          <p:cNvPr id="319" name="Google Shape;319;p36"/>
          <p:cNvSpPr txBox="1"/>
          <p:nvPr/>
        </p:nvSpPr>
        <p:spPr>
          <a:xfrm>
            <a:off x="6262882" y="3544840"/>
            <a:ext cx="1066922" cy="26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Helvetica Neue Light"/>
              <a:buNone/>
            </a:pPr>
            <a:r>
              <a:rPr lang="en" sz="800" b="0" i="0" u="none" strike="noStrike" cap="none" dirty="0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+ 100s of other platforms</a:t>
            </a:r>
            <a:endParaRPr sz="1100" dirty="0"/>
          </a:p>
        </p:txBody>
      </p:sp>
      <p:sp>
        <p:nvSpPr>
          <p:cNvPr id="320" name="Google Shape;320;p36"/>
          <p:cNvSpPr txBox="1"/>
          <p:nvPr/>
        </p:nvSpPr>
        <p:spPr>
          <a:xfrm>
            <a:off x="5672054" y="1815966"/>
            <a:ext cx="2525176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7674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A74A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Emerging Commerce</a:t>
            </a:r>
            <a:endParaRPr sz="1100" dirty="0">
              <a:solidFill>
                <a:srgbClr val="A74A41"/>
              </a:solidFill>
            </a:endParaRPr>
          </a:p>
        </p:txBody>
      </p:sp>
      <p:sp>
        <p:nvSpPr>
          <p:cNvPr id="321" name="Google Shape;321;p36"/>
          <p:cNvSpPr txBox="1"/>
          <p:nvPr/>
        </p:nvSpPr>
        <p:spPr>
          <a:xfrm>
            <a:off x="5813696" y="2127572"/>
            <a:ext cx="753822" cy="11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Helvetica Neue Light"/>
              <a:buNone/>
            </a:pPr>
            <a:r>
              <a:rPr lang="en" sz="800" b="0" i="0" u="none" strike="noStrike" cap="none" dirty="0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Social commerce</a:t>
            </a:r>
            <a:endParaRPr sz="1100" dirty="0"/>
          </a:p>
        </p:txBody>
      </p:sp>
      <p:sp>
        <p:nvSpPr>
          <p:cNvPr id="322" name="Google Shape;322;p36"/>
          <p:cNvSpPr txBox="1"/>
          <p:nvPr/>
        </p:nvSpPr>
        <p:spPr>
          <a:xfrm>
            <a:off x="6453254" y="2464442"/>
            <a:ext cx="702651" cy="22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Helvetica Neue Light"/>
              <a:buNone/>
            </a:pPr>
            <a:r>
              <a:rPr lang="en" sz="800" b="0" i="0" u="none" strike="noStrike" cap="none" dirty="0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Voice-enabled purchase</a:t>
            </a:r>
            <a:endParaRPr sz="1100" dirty="0"/>
          </a:p>
        </p:txBody>
      </p:sp>
      <p:sp>
        <p:nvSpPr>
          <p:cNvPr id="323" name="Google Shape;323;p36"/>
          <p:cNvSpPr txBox="1"/>
          <p:nvPr/>
        </p:nvSpPr>
        <p:spPr>
          <a:xfrm>
            <a:off x="7155905" y="2055073"/>
            <a:ext cx="702651" cy="34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Helvetica Neue Light"/>
              <a:buNone/>
            </a:pPr>
            <a:r>
              <a:rPr lang="en" sz="800" b="0" i="0" u="none" strike="noStrike" cap="none" dirty="0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Smart device automated purchasing</a:t>
            </a:r>
            <a:endParaRPr sz="11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315AC5-3709-9A0F-8F46-830CD558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58" y="4298610"/>
            <a:ext cx="422083" cy="422083"/>
          </a:xfrm>
          <a:prstGeom prst="roundRect">
            <a:avLst>
              <a:gd name="adj" fmla="val 31930"/>
            </a:avLst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799921-DDEC-AF30-DA79-44DBED9BE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649" y="4281676"/>
            <a:ext cx="455862" cy="455862"/>
          </a:xfrm>
          <a:prstGeom prst="rect">
            <a:avLst/>
          </a:prstGeom>
        </p:spPr>
      </p:pic>
      <p:sp>
        <p:nvSpPr>
          <p:cNvPr id="5" name="Google Shape;319;p36">
            <a:extLst>
              <a:ext uri="{FF2B5EF4-FFF2-40B4-BE49-F238E27FC236}">
                <a16:creationId xmlns:a16="http://schemas.microsoft.com/office/drawing/2014/main" id="{43A43C0D-30C9-A62A-70A7-DCA648AAE2C2}"/>
              </a:ext>
            </a:extLst>
          </p:cNvPr>
          <p:cNvSpPr txBox="1"/>
          <p:nvPr/>
        </p:nvSpPr>
        <p:spPr>
          <a:xfrm>
            <a:off x="6271119" y="4788569"/>
            <a:ext cx="1066922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Helvetica Neue Light"/>
              <a:buNone/>
            </a:pPr>
            <a:r>
              <a:rPr lang="en" sz="800" b="0" i="0" u="none" strike="noStrike" cap="none" dirty="0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Cars45</a:t>
            </a:r>
            <a:endParaRPr sz="1100" dirty="0"/>
          </a:p>
        </p:txBody>
      </p:sp>
      <p:sp>
        <p:nvSpPr>
          <p:cNvPr id="6" name="Google Shape;319;p36">
            <a:extLst>
              <a:ext uri="{FF2B5EF4-FFF2-40B4-BE49-F238E27FC236}">
                <a16:creationId xmlns:a16="http://schemas.microsoft.com/office/drawing/2014/main" id="{11A82805-7746-597C-E0AA-5B8E5B9DC25B}"/>
              </a:ext>
            </a:extLst>
          </p:cNvPr>
          <p:cNvSpPr txBox="1"/>
          <p:nvPr/>
        </p:nvSpPr>
        <p:spPr>
          <a:xfrm>
            <a:off x="5523848" y="4788569"/>
            <a:ext cx="1066922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Helvetica Neue Light"/>
              <a:buNone/>
            </a:pPr>
            <a:r>
              <a:rPr lang="en" sz="800" b="0" i="0" u="none" strike="noStrike" cap="none" dirty="0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Jiji</a:t>
            </a:r>
            <a:endParaRPr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84C73-7D69-074A-E156-EB79397DF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001" y="4298565"/>
            <a:ext cx="422083" cy="422083"/>
          </a:xfrm>
          <a:prstGeom prst="roundRect">
            <a:avLst>
              <a:gd name="adj" fmla="val 22501"/>
            </a:avLst>
          </a:prstGeom>
        </p:spPr>
      </p:pic>
      <p:sp>
        <p:nvSpPr>
          <p:cNvPr id="8" name="Google Shape;319;p36">
            <a:extLst>
              <a:ext uri="{FF2B5EF4-FFF2-40B4-BE49-F238E27FC236}">
                <a16:creationId xmlns:a16="http://schemas.microsoft.com/office/drawing/2014/main" id="{C5CC6525-1FB7-720D-9A1A-7C4CF7FB95A1}"/>
              </a:ext>
            </a:extLst>
          </p:cNvPr>
          <p:cNvSpPr txBox="1"/>
          <p:nvPr/>
        </p:nvSpPr>
        <p:spPr>
          <a:xfrm>
            <a:off x="7076031" y="4788569"/>
            <a:ext cx="1066922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Helvetica Neue Light"/>
              <a:buNone/>
            </a:pPr>
            <a:r>
              <a:rPr lang="en" sz="800" b="0" i="0" u="none" strike="noStrike" cap="none" dirty="0" err="1">
                <a:solidFill>
                  <a:srgbClr val="5E5E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Pigiame</a:t>
            </a:r>
            <a:endParaRPr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6B36C4-3F06-FC3D-6FA4-44DAAA457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930" y="3048093"/>
            <a:ext cx="428826" cy="428826"/>
          </a:xfrm>
          <a:prstGeom prst="roundRect">
            <a:avLst>
              <a:gd name="adj" fmla="val 20167"/>
            </a:avLst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/>
        </p:nvSpPr>
        <p:spPr>
          <a:xfrm>
            <a:off x="384472" y="590538"/>
            <a:ext cx="7442639" cy="88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100"/>
              <a:buFont typeface="Helvetica Neue"/>
              <a:buNone/>
            </a:pPr>
            <a:r>
              <a:rPr lang="en-US" sz="21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Leverage the established loan technology to enter the market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1400"/>
              <a:buFont typeface="Helvetica Neue Light"/>
              <a:buNone/>
            </a:pP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401" name="Google Shape;401;p38"/>
          <p:cNvSpPr txBox="1"/>
          <p:nvPr/>
        </p:nvSpPr>
        <p:spPr>
          <a:xfrm>
            <a:off x="396022" y="193448"/>
            <a:ext cx="3990821" cy="28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1400" b="0" i="0" u="none" strike="noStrike" cap="none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Go To</a:t>
            </a:r>
            <a:r>
              <a:rPr lang="en" sz="1400" b="0" i="0" u="none" strike="noStrike" cap="none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400" b="1" i="0" u="none" strike="noStrike" cap="none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1100">
              <a:solidFill>
                <a:srgbClr val="632B26"/>
              </a:solidFill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413028" y="1530219"/>
            <a:ext cx="3633596" cy="2961684"/>
          </a:xfrm>
          <a:prstGeom prst="roundRect">
            <a:avLst>
              <a:gd name="adj" fmla="val 9028"/>
            </a:avLst>
          </a:prstGeom>
          <a:solidFill>
            <a:srgbClr val="FFFFFF"/>
          </a:solidFill>
          <a:ln>
            <a:noFill/>
          </a:ln>
          <a:effectLst>
            <a:outerShdw blurRad="571500" dist="390271" dir="5400000" rotWithShape="0">
              <a:srgbClr val="000000">
                <a:alpha val="7058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8"/>
          <p:cNvSpPr txBox="1"/>
          <p:nvPr/>
        </p:nvSpPr>
        <p:spPr>
          <a:xfrm>
            <a:off x="711149" y="1821922"/>
            <a:ext cx="11577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5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Traction &amp; Key Advantages</a:t>
            </a:r>
            <a:endParaRPr sz="1000" dirty="0">
              <a:solidFill>
                <a:srgbClr val="632B26"/>
              </a:solidFill>
            </a:endParaRPr>
          </a:p>
        </p:txBody>
      </p:sp>
      <p:sp>
        <p:nvSpPr>
          <p:cNvPr id="407" name="Google Shape;407;p38"/>
          <p:cNvSpPr txBox="1"/>
          <p:nvPr/>
        </p:nvSpPr>
        <p:spPr>
          <a:xfrm>
            <a:off x="920040" y="2484141"/>
            <a:ext cx="2722929" cy="173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700"/>
              <a:buFont typeface="Helvetica Neue"/>
              <a:buNone/>
            </a:pPr>
            <a:r>
              <a:rPr lang="en-US" sz="17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Established Tech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Helvetica Neue Light"/>
              <a:buNone/>
            </a:pPr>
            <a:r>
              <a:rPr lang="en-US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Built by founding team with end-to-end operations 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100"/>
              <a:buFont typeface="Helvetica Neue Light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700"/>
              <a:buFont typeface="Helvetica Neue"/>
              <a:buNone/>
            </a:pPr>
            <a:r>
              <a:rPr lang="en-US" sz="17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Deal Flow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Helvetica Neue Light"/>
              <a:buNone/>
            </a:pPr>
            <a:r>
              <a:rPr lang="en-US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Origination partners across ecommerce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100"/>
              <a:buFont typeface="Helvetica Neue Light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700"/>
              <a:buFont typeface="Helvetica Neue"/>
              <a:buNone/>
            </a:pPr>
            <a:r>
              <a:rPr lang="en-US" sz="17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Team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900"/>
              <a:buFont typeface="Helvetica Neue Light"/>
              <a:buNone/>
            </a:pPr>
            <a:r>
              <a:rPr lang="en-US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Well rounded team of experienced professionals in finance and technology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419" name="Google Shape;419;p38"/>
          <p:cNvSpPr/>
          <p:nvPr/>
        </p:nvSpPr>
        <p:spPr>
          <a:xfrm>
            <a:off x="724024" y="2602490"/>
            <a:ext cx="130727" cy="1168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3500" y="16383"/>
                </a:moveTo>
                <a:cubicBezTo>
                  <a:pt x="10800" y="15115"/>
                  <a:pt x="9624" y="14237"/>
                  <a:pt x="9624" y="12531"/>
                </a:cubicBezTo>
                <a:cubicBezTo>
                  <a:pt x="9624" y="11214"/>
                  <a:pt x="10408" y="11653"/>
                  <a:pt x="10800" y="9508"/>
                </a:cubicBezTo>
                <a:cubicBezTo>
                  <a:pt x="11192" y="8630"/>
                  <a:pt x="11932" y="9508"/>
                  <a:pt x="11932" y="7362"/>
                </a:cubicBezTo>
                <a:cubicBezTo>
                  <a:pt x="11932" y="6485"/>
                  <a:pt x="11584" y="6485"/>
                  <a:pt x="11584" y="6485"/>
                </a:cubicBezTo>
                <a:cubicBezTo>
                  <a:pt x="11584" y="6485"/>
                  <a:pt x="11932" y="5168"/>
                  <a:pt x="11932" y="4340"/>
                </a:cubicBezTo>
                <a:cubicBezTo>
                  <a:pt x="11932" y="3023"/>
                  <a:pt x="11192" y="0"/>
                  <a:pt x="7708" y="0"/>
                </a:cubicBezTo>
                <a:cubicBezTo>
                  <a:pt x="3832" y="0"/>
                  <a:pt x="3048" y="3023"/>
                  <a:pt x="3048" y="4340"/>
                </a:cubicBezTo>
                <a:cubicBezTo>
                  <a:pt x="3048" y="5168"/>
                  <a:pt x="3440" y="6485"/>
                  <a:pt x="3440" y="6485"/>
                </a:cubicBezTo>
                <a:cubicBezTo>
                  <a:pt x="3440" y="6485"/>
                  <a:pt x="3048" y="6485"/>
                  <a:pt x="3048" y="7362"/>
                </a:cubicBezTo>
                <a:cubicBezTo>
                  <a:pt x="3048" y="9508"/>
                  <a:pt x="3832" y="8630"/>
                  <a:pt x="4224" y="9508"/>
                </a:cubicBezTo>
                <a:cubicBezTo>
                  <a:pt x="4616" y="11653"/>
                  <a:pt x="5356" y="11214"/>
                  <a:pt x="5356" y="12531"/>
                </a:cubicBezTo>
                <a:cubicBezTo>
                  <a:pt x="5356" y="14237"/>
                  <a:pt x="4224" y="15115"/>
                  <a:pt x="1524" y="16383"/>
                </a:cubicBezTo>
                <a:cubicBezTo>
                  <a:pt x="1524" y="16383"/>
                  <a:pt x="740" y="16383"/>
                  <a:pt x="0" y="16822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17332" y="21600"/>
                  <a:pt x="17332" y="21600"/>
                  <a:pt x="17332" y="21600"/>
                </a:cubicBezTo>
                <a:cubicBezTo>
                  <a:pt x="17332" y="21600"/>
                  <a:pt x="17332" y="19894"/>
                  <a:pt x="17332" y="19455"/>
                </a:cubicBezTo>
                <a:cubicBezTo>
                  <a:pt x="17332" y="18577"/>
                  <a:pt x="16200" y="17260"/>
                  <a:pt x="13500" y="16383"/>
                </a:cubicBezTo>
                <a:close/>
                <a:moveTo>
                  <a:pt x="18508" y="9508"/>
                </a:moveTo>
                <a:cubicBezTo>
                  <a:pt x="18508" y="6046"/>
                  <a:pt x="18508" y="6046"/>
                  <a:pt x="18508" y="6046"/>
                </a:cubicBezTo>
                <a:cubicBezTo>
                  <a:pt x="16200" y="6046"/>
                  <a:pt x="16200" y="6046"/>
                  <a:pt x="16200" y="6046"/>
                </a:cubicBezTo>
                <a:cubicBezTo>
                  <a:pt x="16200" y="9508"/>
                  <a:pt x="16200" y="9508"/>
                  <a:pt x="16200" y="9508"/>
                </a:cubicBezTo>
                <a:cubicBezTo>
                  <a:pt x="13108" y="9508"/>
                  <a:pt x="13108" y="9508"/>
                  <a:pt x="13108" y="9508"/>
                </a:cubicBezTo>
                <a:cubicBezTo>
                  <a:pt x="13108" y="12092"/>
                  <a:pt x="13108" y="12092"/>
                  <a:pt x="13108" y="12092"/>
                </a:cubicBezTo>
                <a:cubicBezTo>
                  <a:pt x="16200" y="12092"/>
                  <a:pt x="16200" y="12092"/>
                  <a:pt x="16200" y="12092"/>
                </a:cubicBezTo>
                <a:cubicBezTo>
                  <a:pt x="16200" y="15554"/>
                  <a:pt x="16200" y="15554"/>
                  <a:pt x="16200" y="15554"/>
                </a:cubicBezTo>
                <a:cubicBezTo>
                  <a:pt x="18508" y="15554"/>
                  <a:pt x="18508" y="15554"/>
                  <a:pt x="18508" y="15554"/>
                </a:cubicBezTo>
                <a:cubicBezTo>
                  <a:pt x="18508" y="12092"/>
                  <a:pt x="18508" y="12092"/>
                  <a:pt x="18508" y="12092"/>
                </a:cubicBezTo>
                <a:cubicBezTo>
                  <a:pt x="21600" y="12092"/>
                  <a:pt x="21600" y="12092"/>
                  <a:pt x="21600" y="12092"/>
                </a:cubicBezTo>
                <a:cubicBezTo>
                  <a:pt x="21600" y="9508"/>
                  <a:pt x="21600" y="9508"/>
                  <a:pt x="21600" y="9508"/>
                </a:cubicBezTo>
                <a:lnTo>
                  <a:pt x="18508" y="9508"/>
                </a:lnTo>
                <a:close/>
              </a:path>
            </a:pathLst>
          </a:custGeom>
          <a:solidFill>
            <a:srgbClr val="A74A41"/>
          </a:solidFill>
          <a:ln>
            <a:noFill/>
          </a:ln>
        </p:spPr>
        <p:txBody>
          <a:bodyPr spcFirstLastPara="1" wrap="square" lIns="48200" tIns="48200" rIns="48200" bIns="48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698780" y="3150350"/>
            <a:ext cx="127104" cy="101119"/>
          </a:xfrm>
          <a:custGeom>
            <a:avLst/>
            <a:gdLst/>
            <a:ahLst/>
            <a:cxnLst/>
            <a:rect l="l" t="t" r="r" b="b"/>
            <a:pathLst>
              <a:path w="21511" h="21475" extrusionOk="0">
                <a:moveTo>
                  <a:pt x="21155" y="375"/>
                </a:moveTo>
                <a:cubicBezTo>
                  <a:pt x="16444" y="10703"/>
                  <a:pt x="16444" y="10703"/>
                  <a:pt x="16444" y="10703"/>
                </a:cubicBezTo>
                <a:cubicBezTo>
                  <a:pt x="16044" y="11202"/>
                  <a:pt x="15644" y="11202"/>
                  <a:pt x="15244" y="10703"/>
                </a:cubicBezTo>
                <a:cubicBezTo>
                  <a:pt x="12889" y="8204"/>
                  <a:pt x="12889" y="8204"/>
                  <a:pt x="12889" y="8204"/>
                </a:cubicBezTo>
                <a:cubicBezTo>
                  <a:pt x="12489" y="7704"/>
                  <a:pt x="12489" y="7704"/>
                  <a:pt x="12089" y="8204"/>
                </a:cubicBezTo>
                <a:cubicBezTo>
                  <a:pt x="8533" y="14645"/>
                  <a:pt x="8533" y="14645"/>
                  <a:pt x="8533" y="14645"/>
                </a:cubicBezTo>
                <a:cubicBezTo>
                  <a:pt x="8533" y="15145"/>
                  <a:pt x="8178" y="15145"/>
                  <a:pt x="7778" y="14645"/>
                </a:cubicBezTo>
                <a:cubicBezTo>
                  <a:pt x="6178" y="13146"/>
                  <a:pt x="6178" y="13146"/>
                  <a:pt x="6178" y="13146"/>
                </a:cubicBezTo>
                <a:cubicBezTo>
                  <a:pt x="5778" y="12646"/>
                  <a:pt x="5378" y="12646"/>
                  <a:pt x="5378" y="13146"/>
                </a:cubicBezTo>
                <a:cubicBezTo>
                  <a:pt x="267" y="21031"/>
                  <a:pt x="267" y="21031"/>
                  <a:pt x="267" y="21031"/>
                </a:cubicBezTo>
                <a:cubicBezTo>
                  <a:pt x="-89" y="21475"/>
                  <a:pt x="-89" y="21475"/>
                  <a:pt x="267" y="21475"/>
                </a:cubicBezTo>
                <a:cubicBezTo>
                  <a:pt x="21511" y="21475"/>
                  <a:pt x="21511" y="21475"/>
                  <a:pt x="21511" y="21475"/>
                </a:cubicBezTo>
                <a:cubicBezTo>
                  <a:pt x="21511" y="375"/>
                  <a:pt x="21511" y="375"/>
                  <a:pt x="21511" y="375"/>
                </a:cubicBezTo>
                <a:cubicBezTo>
                  <a:pt x="21511" y="-125"/>
                  <a:pt x="21511" y="-125"/>
                  <a:pt x="21155" y="375"/>
                </a:cubicBezTo>
              </a:path>
            </a:pathLst>
          </a:custGeom>
          <a:solidFill>
            <a:srgbClr val="A74A41"/>
          </a:solidFill>
          <a:ln>
            <a:noFill/>
          </a:ln>
        </p:spPr>
        <p:txBody>
          <a:bodyPr spcFirstLastPara="1" wrap="square" lIns="48200" tIns="48200" rIns="48200" bIns="48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730660" y="3688029"/>
            <a:ext cx="115810" cy="1168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9168" y="0"/>
                </a:moveTo>
                <a:cubicBezTo>
                  <a:pt x="4144" y="467"/>
                  <a:pt x="466" y="4569"/>
                  <a:pt x="0" y="9138"/>
                </a:cubicBezTo>
                <a:cubicBezTo>
                  <a:pt x="9168" y="9138"/>
                  <a:pt x="9168" y="9138"/>
                  <a:pt x="9168" y="9138"/>
                </a:cubicBezTo>
                <a:lnTo>
                  <a:pt x="9168" y="0"/>
                </a:lnTo>
                <a:close/>
                <a:moveTo>
                  <a:pt x="11914" y="0"/>
                </a:moveTo>
                <a:cubicBezTo>
                  <a:pt x="11914" y="10540"/>
                  <a:pt x="11914" y="10540"/>
                  <a:pt x="11914" y="10540"/>
                </a:cubicBezTo>
                <a:cubicBezTo>
                  <a:pt x="11914" y="11475"/>
                  <a:pt x="11499" y="11890"/>
                  <a:pt x="10567" y="11890"/>
                </a:cubicBezTo>
                <a:cubicBezTo>
                  <a:pt x="0" y="11890"/>
                  <a:pt x="0" y="11890"/>
                  <a:pt x="0" y="11890"/>
                </a:cubicBezTo>
                <a:cubicBezTo>
                  <a:pt x="466" y="17446"/>
                  <a:pt x="5076" y="21600"/>
                  <a:pt x="10567" y="21600"/>
                </a:cubicBezTo>
                <a:cubicBezTo>
                  <a:pt x="16524" y="21600"/>
                  <a:pt x="21600" y="16563"/>
                  <a:pt x="21600" y="10540"/>
                </a:cubicBezTo>
                <a:cubicBezTo>
                  <a:pt x="21600" y="5036"/>
                  <a:pt x="17456" y="467"/>
                  <a:pt x="11914" y="0"/>
                </a:cubicBezTo>
                <a:close/>
              </a:path>
            </a:pathLst>
          </a:custGeom>
          <a:solidFill>
            <a:srgbClr val="A74A41"/>
          </a:solidFill>
          <a:ln>
            <a:noFill/>
          </a:ln>
        </p:spPr>
        <p:txBody>
          <a:bodyPr spcFirstLastPara="1" wrap="square" lIns="48200" tIns="48200" rIns="48200" bIns="48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3112586" y="1846850"/>
            <a:ext cx="601176" cy="51683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00" y="0"/>
                </a:moveTo>
                <a:cubicBezTo>
                  <a:pt x="17213" y="0"/>
                  <a:pt x="17213" y="0"/>
                  <a:pt x="17213" y="0"/>
                </a:cubicBezTo>
                <a:cubicBezTo>
                  <a:pt x="16714" y="0"/>
                  <a:pt x="16214" y="486"/>
                  <a:pt x="16214" y="1362"/>
                </a:cubicBezTo>
                <a:cubicBezTo>
                  <a:pt x="16214" y="21600"/>
                  <a:pt x="16214" y="21600"/>
                  <a:pt x="16214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362"/>
                  <a:pt x="21600" y="1362"/>
                  <a:pt x="21600" y="1362"/>
                </a:cubicBezTo>
                <a:cubicBezTo>
                  <a:pt x="21600" y="486"/>
                  <a:pt x="21100" y="0"/>
                  <a:pt x="20600" y="0"/>
                </a:cubicBezTo>
                <a:close/>
                <a:moveTo>
                  <a:pt x="12271" y="7346"/>
                </a:moveTo>
                <a:cubicBezTo>
                  <a:pt x="9329" y="7346"/>
                  <a:pt x="9329" y="7346"/>
                  <a:pt x="9329" y="7346"/>
                </a:cubicBezTo>
                <a:cubicBezTo>
                  <a:pt x="8329" y="7346"/>
                  <a:pt x="7829" y="7784"/>
                  <a:pt x="7829" y="8659"/>
                </a:cubicBezTo>
                <a:cubicBezTo>
                  <a:pt x="7829" y="21600"/>
                  <a:pt x="7829" y="21600"/>
                  <a:pt x="7829" y="21600"/>
                </a:cubicBezTo>
                <a:cubicBezTo>
                  <a:pt x="13771" y="21600"/>
                  <a:pt x="13771" y="21600"/>
                  <a:pt x="13771" y="21600"/>
                </a:cubicBezTo>
                <a:cubicBezTo>
                  <a:pt x="13771" y="8659"/>
                  <a:pt x="13771" y="8659"/>
                  <a:pt x="13771" y="8659"/>
                </a:cubicBezTo>
                <a:cubicBezTo>
                  <a:pt x="13771" y="7784"/>
                  <a:pt x="12771" y="7346"/>
                  <a:pt x="12271" y="7346"/>
                </a:cubicBezTo>
                <a:close/>
                <a:moveTo>
                  <a:pt x="3887" y="14692"/>
                </a:moveTo>
                <a:cubicBezTo>
                  <a:pt x="944" y="14692"/>
                  <a:pt x="944" y="14692"/>
                  <a:pt x="944" y="14692"/>
                </a:cubicBezTo>
                <a:cubicBezTo>
                  <a:pt x="0" y="14692"/>
                  <a:pt x="0" y="15081"/>
                  <a:pt x="0" y="15519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5386" y="21600"/>
                  <a:pt x="5386" y="21600"/>
                  <a:pt x="5386" y="21600"/>
                </a:cubicBezTo>
                <a:cubicBezTo>
                  <a:pt x="5386" y="15519"/>
                  <a:pt x="5386" y="15519"/>
                  <a:pt x="5386" y="15519"/>
                </a:cubicBezTo>
                <a:cubicBezTo>
                  <a:pt x="5386" y="15081"/>
                  <a:pt x="4886" y="14692"/>
                  <a:pt x="3887" y="14692"/>
                </a:cubicBezTo>
                <a:close/>
              </a:path>
            </a:pathLst>
          </a:custGeom>
          <a:solidFill>
            <a:srgbClr val="E9EDF2"/>
          </a:solidFill>
          <a:ln>
            <a:noFill/>
          </a:ln>
        </p:spPr>
        <p:txBody>
          <a:bodyPr spcFirstLastPara="1" wrap="square" lIns="48200" tIns="48200" rIns="48200" bIns="482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endParaRPr sz="1100" b="0" i="0" u="none" strike="noStrike" cap="none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60;p35">
            <a:extLst>
              <a:ext uri="{FF2B5EF4-FFF2-40B4-BE49-F238E27FC236}">
                <a16:creationId xmlns:a16="http://schemas.microsoft.com/office/drawing/2014/main" id="{FCBAC02F-3CE0-8372-4DDC-7A8772703005}"/>
              </a:ext>
            </a:extLst>
          </p:cNvPr>
          <p:cNvSpPr txBox="1"/>
          <p:nvPr/>
        </p:nvSpPr>
        <p:spPr>
          <a:xfrm>
            <a:off x="4861221" y="1997949"/>
            <a:ext cx="2956572" cy="469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900"/>
              <a:buFont typeface="Helvetica Neue Light"/>
              <a:buNone/>
            </a:pPr>
            <a:r>
              <a:rPr lang="en-US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loan application and backend technology is highly customizable, allowing a quick go-to market to reach new customers.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5" name="Google Shape;261;p35">
            <a:extLst>
              <a:ext uri="{FF2B5EF4-FFF2-40B4-BE49-F238E27FC236}">
                <a16:creationId xmlns:a16="http://schemas.microsoft.com/office/drawing/2014/main" id="{2C65AEB3-D7E3-94BF-6F29-5676BCEF6036}"/>
              </a:ext>
            </a:extLst>
          </p:cNvPr>
          <p:cNvSpPr txBox="1"/>
          <p:nvPr/>
        </p:nvSpPr>
        <p:spPr>
          <a:xfrm>
            <a:off x="4851903" y="1748881"/>
            <a:ext cx="2956571" cy="201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Leverage Paya’s BNPL application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6" name="Google Shape;260;p35">
            <a:extLst>
              <a:ext uri="{FF2B5EF4-FFF2-40B4-BE49-F238E27FC236}">
                <a16:creationId xmlns:a16="http://schemas.microsoft.com/office/drawing/2014/main" id="{1002A4B5-A5D7-5CEE-9903-66B4B4FC1106}"/>
              </a:ext>
            </a:extLst>
          </p:cNvPr>
          <p:cNvSpPr txBox="1"/>
          <p:nvPr/>
        </p:nvSpPr>
        <p:spPr>
          <a:xfrm>
            <a:off x="4870539" y="2923926"/>
            <a:ext cx="2956572" cy="33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900"/>
              <a:buFont typeface="Helvetica Neue Light"/>
              <a:buNone/>
            </a:pPr>
            <a:r>
              <a:rPr lang="en-US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Building the technology integration with I&amp;M Bank would allow the technology to scale and grow responsibly.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7" name="Google Shape;261;p35">
            <a:extLst>
              <a:ext uri="{FF2B5EF4-FFF2-40B4-BE49-F238E27FC236}">
                <a16:creationId xmlns:a16="http://schemas.microsoft.com/office/drawing/2014/main" id="{590E9CEE-E855-2FB4-3863-4213231639BE}"/>
              </a:ext>
            </a:extLst>
          </p:cNvPr>
          <p:cNvSpPr txBox="1"/>
          <p:nvPr/>
        </p:nvSpPr>
        <p:spPr>
          <a:xfrm>
            <a:off x="4861221" y="2674858"/>
            <a:ext cx="3232912" cy="201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Partnership between Paya and I&amp;M Bank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8" name="Google Shape;260;p35">
            <a:extLst>
              <a:ext uri="{FF2B5EF4-FFF2-40B4-BE49-F238E27FC236}">
                <a16:creationId xmlns:a16="http://schemas.microsoft.com/office/drawing/2014/main" id="{37F5DE0F-A36A-18CF-ADAB-87F0DF799332}"/>
              </a:ext>
            </a:extLst>
          </p:cNvPr>
          <p:cNvSpPr txBox="1"/>
          <p:nvPr/>
        </p:nvSpPr>
        <p:spPr>
          <a:xfrm>
            <a:off x="4870539" y="3832744"/>
            <a:ext cx="2956572" cy="33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900"/>
              <a:buFont typeface="Helvetica Neue Light"/>
              <a:buNone/>
            </a:pPr>
            <a:r>
              <a:rPr lang="en-US" sz="9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Origination network of ecommerce partners who will source deals.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9" name="Google Shape;261;p35">
            <a:extLst>
              <a:ext uri="{FF2B5EF4-FFF2-40B4-BE49-F238E27FC236}">
                <a16:creationId xmlns:a16="http://schemas.microsoft.com/office/drawing/2014/main" id="{1E0E4714-38A5-9DA1-1BAB-FD31955F011B}"/>
              </a:ext>
            </a:extLst>
          </p:cNvPr>
          <p:cNvSpPr txBox="1"/>
          <p:nvPr/>
        </p:nvSpPr>
        <p:spPr>
          <a:xfrm>
            <a:off x="4861221" y="3583676"/>
            <a:ext cx="3232912" cy="201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200"/>
              <a:buFont typeface="Helvetica Neue"/>
              <a:buNone/>
            </a:pPr>
            <a:r>
              <a:rPr lang="en" sz="1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Establish eCommerce partner network </a:t>
            </a:r>
            <a:endParaRPr sz="1100" dirty="0">
              <a:solidFill>
                <a:srgbClr val="632B2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/>
        </p:nvSpPr>
        <p:spPr>
          <a:xfrm>
            <a:off x="384472" y="590538"/>
            <a:ext cx="7167935" cy="39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100"/>
              <a:buFont typeface="Helvetica Neue"/>
              <a:buNone/>
            </a:pPr>
            <a:r>
              <a:rPr lang="en-US" sz="21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 economics per BNPL loan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333" name="Google Shape;333;p37"/>
          <p:cNvSpPr txBox="1"/>
          <p:nvPr/>
        </p:nvSpPr>
        <p:spPr>
          <a:xfrm>
            <a:off x="396022" y="193448"/>
            <a:ext cx="3990821" cy="28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14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Projections</a:t>
            </a:r>
            <a:endParaRPr sz="1100" dirty="0">
              <a:solidFill>
                <a:srgbClr val="632B26"/>
              </a:solidFill>
            </a:endParaRPr>
          </a:p>
        </p:txBody>
      </p:sp>
      <p:cxnSp>
        <p:nvCxnSpPr>
          <p:cNvPr id="11" name="Google Shape;416;p38">
            <a:extLst>
              <a:ext uri="{FF2B5EF4-FFF2-40B4-BE49-F238E27FC236}">
                <a16:creationId xmlns:a16="http://schemas.microsoft.com/office/drawing/2014/main" id="{F8E79626-3338-15CC-E728-2A44F717A739}"/>
              </a:ext>
            </a:extLst>
          </p:cNvPr>
          <p:cNvCxnSpPr>
            <a:cxnSpLocks/>
          </p:cNvCxnSpPr>
          <p:nvPr/>
        </p:nvCxnSpPr>
        <p:spPr>
          <a:xfrm>
            <a:off x="5465583" y="3120840"/>
            <a:ext cx="2324205" cy="0"/>
          </a:xfrm>
          <a:prstGeom prst="straightConnector1">
            <a:avLst/>
          </a:prstGeom>
          <a:noFill/>
          <a:ln w="9525" cap="flat" cmpd="sng">
            <a:solidFill>
              <a:srgbClr val="632B2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423;p38">
            <a:extLst>
              <a:ext uri="{FF2B5EF4-FFF2-40B4-BE49-F238E27FC236}">
                <a16:creationId xmlns:a16="http://schemas.microsoft.com/office/drawing/2014/main" id="{4738222F-E18D-87DE-25D1-1CB81630F338}"/>
              </a:ext>
            </a:extLst>
          </p:cNvPr>
          <p:cNvSpPr txBox="1"/>
          <p:nvPr/>
        </p:nvSpPr>
        <p:spPr>
          <a:xfrm>
            <a:off x="6022882" y="2403332"/>
            <a:ext cx="1794295" cy="567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17%</a:t>
            </a:r>
            <a:endParaRPr sz="18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Potential average interest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4CC166-013B-DEF3-269E-844038A70318}"/>
              </a:ext>
            </a:extLst>
          </p:cNvPr>
          <p:cNvSpPr txBox="1"/>
          <p:nvPr/>
        </p:nvSpPr>
        <p:spPr>
          <a:xfrm>
            <a:off x="5220356" y="3204568"/>
            <a:ext cx="2641616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700"/>
              <a:buFont typeface="Helvetica Neue"/>
              <a:buNone/>
            </a:pPr>
            <a:r>
              <a:rPr lang="en-US" sz="2800" b="1" i="0" u="none" strike="noStrike" cap="none" dirty="0" err="1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KShs</a:t>
            </a:r>
            <a:r>
              <a:rPr lang="en-US" sz="28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</a:t>
            </a:r>
            <a:r>
              <a:rPr lang="en-US" sz="3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,000</a:t>
            </a:r>
            <a:endParaRPr lang="en-US" sz="1600" dirty="0">
              <a:solidFill>
                <a:srgbClr val="632B26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Helvetica Neue Light"/>
              <a:buNone/>
            </a:pPr>
            <a:r>
              <a:rPr lang="en-US" sz="11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Over 1 year plus other fees</a:t>
            </a:r>
            <a:endParaRPr lang="en-US" sz="1600" dirty="0">
              <a:solidFill>
                <a:srgbClr val="632B26"/>
              </a:solidFill>
            </a:endParaRPr>
          </a:p>
        </p:txBody>
      </p:sp>
      <p:sp>
        <p:nvSpPr>
          <p:cNvPr id="2" name="Google Shape;403;p38">
            <a:extLst>
              <a:ext uri="{FF2B5EF4-FFF2-40B4-BE49-F238E27FC236}">
                <a16:creationId xmlns:a16="http://schemas.microsoft.com/office/drawing/2014/main" id="{22D05AEC-E4AA-A279-C399-E4300E8FFF43}"/>
              </a:ext>
            </a:extLst>
          </p:cNvPr>
          <p:cNvSpPr/>
          <p:nvPr/>
        </p:nvSpPr>
        <p:spPr>
          <a:xfrm>
            <a:off x="626764" y="1481473"/>
            <a:ext cx="3633596" cy="2492315"/>
          </a:xfrm>
          <a:prstGeom prst="roundRect">
            <a:avLst>
              <a:gd name="adj" fmla="val 9028"/>
            </a:avLst>
          </a:prstGeom>
          <a:solidFill>
            <a:srgbClr val="FFFFFF"/>
          </a:solidFill>
          <a:ln>
            <a:noFill/>
          </a:ln>
          <a:effectLst>
            <a:outerShdw blurRad="571500" dist="390271" dir="5400000" rotWithShape="0">
              <a:srgbClr val="000000">
                <a:alpha val="7058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632B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35;p37">
            <a:extLst>
              <a:ext uri="{FF2B5EF4-FFF2-40B4-BE49-F238E27FC236}">
                <a16:creationId xmlns:a16="http://schemas.microsoft.com/office/drawing/2014/main" id="{17D861BE-1CE6-2F44-00A7-BDB7D40C54B3}"/>
              </a:ext>
            </a:extLst>
          </p:cNvPr>
          <p:cNvSpPr txBox="1"/>
          <p:nvPr/>
        </p:nvSpPr>
        <p:spPr>
          <a:xfrm>
            <a:off x="826165" y="1739002"/>
            <a:ext cx="3196856" cy="196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80%</a:t>
            </a: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Bank</a:t>
            </a:r>
            <a:endParaRPr lang="en-US" sz="12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solidFill>
                <a:srgbClr val="632B26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20%</a:t>
            </a: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Paya Ventures</a:t>
            </a:r>
            <a:endParaRPr lang="en-US" sz="12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405;p38">
            <a:extLst>
              <a:ext uri="{FF2B5EF4-FFF2-40B4-BE49-F238E27FC236}">
                <a16:creationId xmlns:a16="http://schemas.microsoft.com/office/drawing/2014/main" id="{2C756582-0AC3-A161-4C7F-6FE789232A39}"/>
              </a:ext>
            </a:extLst>
          </p:cNvPr>
          <p:cNvSpPr txBox="1"/>
          <p:nvPr/>
        </p:nvSpPr>
        <p:spPr>
          <a:xfrm>
            <a:off x="941891" y="1821922"/>
            <a:ext cx="11577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353"/>
              </a:buClr>
              <a:buSzPts val="1500"/>
              <a:buFont typeface="Helvetica Neue"/>
              <a:buNone/>
            </a:pPr>
            <a:r>
              <a:rPr lang="en" sz="12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Revenue</a:t>
            </a:r>
            <a:endParaRPr sz="1000" dirty="0">
              <a:solidFill>
                <a:srgbClr val="632B2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8A28B-87F0-3181-CF84-6BAA525643C0}"/>
              </a:ext>
            </a:extLst>
          </p:cNvPr>
          <p:cNvSpPr txBox="1"/>
          <p:nvPr/>
        </p:nvSpPr>
        <p:spPr>
          <a:xfrm>
            <a:off x="5216936" y="1562121"/>
            <a:ext cx="2641616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700"/>
              <a:buFont typeface="Helvetica Neue"/>
              <a:buNone/>
            </a:pPr>
            <a:r>
              <a:rPr lang="en-US" sz="2800" b="1" i="0" u="none" strike="noStrike" cap="none" dirty="0" err="1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KShs</a:t>
            </a:r>
            <a:r>
              <a:rPr lang="en-US" sz="28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</a:t>
            </a:r>
            <a:r>
              <a:rPr lang="en-US" sz="32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,000</a:t>
            </a:r>
            <a:endParaRPr lang="en-US" sz="1600" dirty="0">
              <a:solidFill>
                <a:srgbClr val="632B26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Helvetica Neue Light"/>
              <a:buNone/>
            </a:pPr>
            <a:r>
              <a:rPr lang="en-US" sz="1100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Average loan amount</a:t>
            </a:r>
            <a:endParaRPr lang="en-US" sz="1600" dirty="0">
              <a:solidFill>
                <a:srgbClr val="632B2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2"/>
          <p:cNvSpPr txBox="1"/>
          <p:nvPr/>
        </p:nvSpPr>
        <p:spPr>
          <a:xfrm>
            <a:off x="396022" y="193448"/>
            <a:ext cx="3990821" cy="28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Helvetica Neue Light"/>
              <a:buNone/>
            </a:pPr>
            <a:r>
              <a:rPr lang="en" sz="1400" b="0" i="0" u="none" strike="noStrike" cap="none" dirty="0">
                <a:solidFill>
                  <a:srgbClr val="632B2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</a:t>
            </a:r>
            <a:r>
              <a:rPr lang="en" sz="1400" b="0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4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518" name="Google Shape;518;p42"/>
          <p:cNvSpPr txBox="1"/>
          <p:nvPr/>
        </p:nvSpPr>
        <p:spPr>
          <a:xfrm>
            <a:off x="384472" y="703661"/>
            <a:ext cx="6279000" cy="39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100"/>
              <a:buFont typeface="Helvetica Neue"/>
              <a:buNone/>
            </a:pPr>
            <a:r>
              <a:rPr lang="en" sz="21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Experienced team across all key competencies</a:t>
            </a:r>
            <a:endParaRPr sz="1100" dirty="0">
              <a:solidFill>
                <a:srgbClr val="632B26"/>
              </a:solidFill>
            </a:endParaRPr>
          </a:p>
        </p:txBody>
      </p:sp>
      <p:sp>
        <p:nvSpPr>
          <p:cNvPr id="519" name="Google Shape;519;p42"/>
          <p:cNvSpPr txBox="1"/>
          <p:nvPr/>
        </p:nvSpPr>
        <p:spPr>
          <a:xfrm>
            <a:off x="630857" y="2118957"/>
            <a:ext cx="11277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r>
              <a:rPr lang="en-US" sz="9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Samuel </a:t>
            </a:r>
            <a:r>
              <a:rPr lang="en-US" sz="900" b="1" i="0" u="none" strike="noStrike" cap="none" dirty="0" err="1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Mweni</a:t>
            </a:r>
            <a:endParaRPr sz="900" b="1" i="0" u="none" strike="noStrike" cap="none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5353"/>
              </a:buClr>
              <a:buSzPts val="800"/>
              <a:buFont typeface="Helvetica Neue"/>
              <a:buNone/>
            </a:pPr>
            <a:r>
              <a:rPr lang="en" sz="800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 </a:t>
            </a:r>
            <a:r>
              <a:rPr lang="en" sz="800" dirty="0" err="1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IndexFand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endParaRPr sz="9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1" name="Google Shape;521;p42"/>
          <p:cNvSpPr txBox="1"/>
          <p:nvPr/>
        </p:nvSpPr>
        <p:spPr>
          <a:xfrm>
            <a:off x="677900" y="3558856"/>
            <a:ext cx="1072800" cy="437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r>
              <a:rPr lang="en-US" sz="9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Steve </a:t>
            </a:r>
            <a:r>
              <a:rPr lang="en-US" sz="900" b="1" i="0" u="none" strike="noStrike" cap="none" dirty="0" err="1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Barisa</a:t>
            </a:r>
            <a:endParaRPr sz="900" b="1" i="0" u="none" strike="noStrike" cap="none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525353"/>
              </a:buClr>
              <a:buSzPts val="800"/>
              <a:buFont typeface="Helvetica Neue"/>
              <a:buNone/>
            </a:pPr>
            <a:r>
              <a:rPr lang="en-US" sz="800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 of Lending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endParaRPr sz="9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3" name="Google Shape;523;p42"/>
          <p:cNvSpPr/>
          <p:nvPr/>
        </p:nvSpPr>
        <p:spPr>
          <a:xfrm>
            <a:off x="746269" y="4154337"/>
            <a:ext cx="7586162" cy="708515"/>
          </a:xfrm>
          <a:prstGeom prst="roundRect">
            <a:avLst>
              <a:gd name="adj" fmla="val 41211"/>
            </a:avLst>
          </a:prstGeom>
          <a:solidFill>
            <a:srgbClr val="FFFFFF"/>
          </a:solidFill>
          <a:ln>
            <a:noFill/>
          </a:ln>
          <a:effectLst>
            <a:outerShdw blurRad="571500" dist="390271" dir="5400000" rotWithShape="0">
              <a:srgbClr val="000000">
                <a:alpha val="7058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4" name="Google Shape;534;p42"/>
          <p:cNvCxnSpPr>
            <a:cxnSpLocks/>
          </p:cNvCxnSpPr>
          <p:nvPr/>
        </p:nvCxnSpPr>
        <p:spPr>
          <a:xfrm flipH="1" flipV="1">
            <a:off x="4148909" y="1543672"/>
            <a:ext cx="1" cy="2257364"/>
          </a:xfrm>
          <a:prstGeom prst="straightConnector1">
            <a:avLst/>
          </a:prstGeom>
          <a:noFill/>
          <a:ln w="9525" cap="flat" cmpd="sng">
            <a:solidFill>
              <a:srgbClr val="632B2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5" name="Google Shape;535;p42"/>
          <p:cNvSpPr txBox="1"/>
          <p:nvPr/>
        </p:nvSpPr>
        <p:spPr>
          <a:xfrm>
            <a:off x="2558953" y="2170800"/>
            <a:ext cx="1072800" cy="326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r>
              <a:rPr lang="en-US" sz="9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Oliver Key</a:t>
            </a:r>
            <a:endParaRPr sz="900" b="1" i="0" u="none" strike="noStrike" cap="none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525353"/>
              </a:buClr>
              <a:buSzPts val="800"/>
              <a:buFont typeface="Helvetica Neue"/>
              <a:buNone/>
            </a:pPr>
            <a:r>
              <a:rPr lang="en" sz="800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 Bank of America</a:t>
            </a:r>
            <a:endParaRPr sz="9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518;p42">
            <a:extLst>
              <a:ext uri="{FF2B5EF4-FFF2-40B4-BE49-F238E27FC236}">
                <a16:creationId xmlns:a16="http://schemas.microsoft.com/office/drawing/2014/main" id="{B1CB61D4-7F59-27CB-8711-B1D5C845F45E}"/>
              </a:ext>
            </a:extLst>
          </p:cNvPr>
          <p:cNvSpPr txBox="1"/>
          <p:nvPr/>
        </p:nvSpPr>
        <p:spPr>
          <a:xfrm>
            <a:off x="4496153" y="1372531"/>
            <a:ext cx="3767910" cy="62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50" tIns="34250" rIns="342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7775"/>
              </a:buClr>
              <a:buSzPts val="2100"/>
              <a:buFont typeface="Helvetica Neue"/>
              <a:buNone/>
            </a:pPr>
            <a:r>
              <a:rPr lang="en-US" sz="18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Advisors of industry experts in creating, and scalin</a:t>
            </a:r>
            <a:r>
              <a:rPr lang="en-US" sz="1800" b="1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 </a:t>
            </a:r>
            <a:r>
              <a:rPr lang="en-US" sz="1800" b="1" dirty="0" err="1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FinTechs</a:t>
            </a:r>
            <a:endParaRPr lang="en-US" sz="1800" dirty="0">
              <a:solidFill>
                <a:srgbClr val="632B26"/>
              </a:solidFill>
            </a:endParaRPr>
          </a:p>
        </p:txBody>
      </p:sp>
      <p:sp>
        <p:nvSpPr>
          <p:cNvPr id="4" name="Google Shape;521;p42">
            <a:extLst>
              <a:ext uri="{FF2B5EF4-FFF2-40B4-BE49-F238E27FC236}">
                <a16:creationId xmlns:a16="http://schemas.microsoft.com/office/drawing/2014/main" id="{F1DE6462-EE0B-182C-DED4-704D3C0AF3FB}"/>
              </a:ext>
            </a:extLst>
          </p:cNvPr>
          <p:cNvSpPr txBox="1"/>
          <p:nvPr/>
        </p:nvSpPr>
        <p:spPr>
          <a:xfrm>
            <a:off x="6824483" y="3033248"/>
            <a:ext cx="10728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r>
              <a:rPr lang="en-US" sz="9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Eric Liu</a:t>
            </a:r>
            <a:endParaRPr sz="900" b="1" i="0" u="none" strike="noStrike" cap="none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525353"/>
              </a:buClr>
              <a:buSzPts val="800"/>
              <a:buFont typeface="Helvetica Neue"/>
              <a:buNone/>
            </a:pPr>
            <a:r>
              <a:rPr lang="en-US" sz="800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 Advisor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endParaRPr sz="9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Google Shape;521;p42">
            <a:extLst>
              <a:ext uri="{FF2B5EF4-FFF2-40B4-BE49-F238E27FC236}">
                <a16:creationId xmlns:a16="http://schemas.microsoft.com/office/drawing/2014/main" id="{5CFFC3F5-5ED4-5373-4B12-4E028F6B852F}"/>
              </a:ext>
            </a:extLst>
          </p:cNvPr>
          <p:cNvSpPr txBox="1"/>
          <p:nvPr/>
        </p:nvSpPr>
        <p:spPr>
          <a:xfrm>
            <a:off x="4945765" y="3052484"/>
            <a:ext cx="1072800" cy="560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r>
              <a:rPr lang="en-US" sz="9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CHELOTI K Esq</a:t>
            </a:r>
            <a:endParaRPr sz="900" b="1" i="0" u="none" strike="noStrike" cap="none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525353"/>
              </a:buClr>
              <a:buSzPts val="800"/>
              <a:buFont typeface="Helvetica Neue"/>
              <a:buNone/>
            </a:pPr>
            <a:r>
              <a:rPr lang="en-US" sz="800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Strategic Partnerships &amp; Legal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endParaRPr sz="9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521;p42">
            <a:extLst>
              <a:ext uri="{FF2B5EF4-FFF2-40B4-BE49-F238E27FC236}">
                <a16:creationId xmlns:a16="http://schemas.microsoft.com/office/drawing/2014/main" id="{6B90EA4B-D8C5-9917-45D5-AB53DED5F210}"/>
              </a:ext>
            </a:extLst>
          </p:cNvPr>
          <p:cNvSpPr txBox="1"/>
          <p:nvPr/>
        </p:nvSpPr>
        <p:spPr>
          <a:xfrm>
            <a:off x="2544030" y="3558513"/>
            <a:ext cx="1072800" cy="437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r>
              <a:rPr lang="en-US" sz="900" b="1" i="0" u="none" strike="noStrike" cap="none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Wilson Kinyua</a:t>
            </a:r>
            <a:endParaRPr sz="900" b="1" i="0" u="none" strike="noStrike" cap="none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525353"/>
              </a:buClr>
              <a:buSzPts val="800"/>
              <a:buFont typeface="Helvetica Neue"/>
              <a:buNone/>
            </a:pPr>
            <a:r>
              <a:rPr lang="en-US" sz="800" dirty="0">
                <a:solidFill>
                  <a:srgbClr val="632B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 of Tech</a:t>
            </a:r>
            <a:endParaRPr sz="1100" dirty="0">
              <a:solidFill>
                <a:srgbClr val="632B26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4474F"/>
              </a:buClr>
              <a:buSzPts val="900"/>
              <a:buFont typeface="Helvetica Neue"/>
              <a:buNone/>
            </a:pPr>
            <a:endParaRPr sz="900" b="1" dirty="0">
              <a:solidFill>
                <a:srgbClr val="632B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A8816D-99BF-F602-2A14-CABDD0607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214" y="4112186"/>
            <a:ext cx="1408551" cy="7928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EA5B34-3280-36D6-F27E-CA69BD164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6009" y="4257820"/>
            <a:ext cx="501548" cy="501548"/>
          </a:xfrm>
          <a:prstGeom prst="round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23E444-9527-EB5F-1A88-4A76AF65B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262" y="4343264"/>
            <a:ext cx="1449335" cy="330659"/>
          </a:xfrm>
          <a:prstGeom prst="rect">
            <a:avLst/>
          </a:prstGeom>
        </p:spPr>
      </p:pic>
      <p:pic>
        <p:nvPicPr>
          <p:cNvPr id="13" name="Picture 12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11A8F292-3C23-6D59-B39B-C92C03F7402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53" t="2231" r="253" b="694"/>
          <a:stretch/>
        </p:blipFill>
        <p:spPr>
          <a:xfrm>
            <a:off x="2728697" y="1245934"/>
            <a:ext cx="733311" cy="759827"/>
          </a:xfrm>
          <a:prstGeom prst="ellipse">
            <a:avLst/>
          </a:prstGeom>
        </p:spPr>
      </p:pic>
      <p:pic>
        <p:nvPicPr>
          <p:cNvPr id="14" name="Picture 13" descr="A person in a blue shirt&#10;&#10;Description automatically generated with medium confidence">
            <a:extLst>
              <a:ext uri="{FF2B5EF4-FFF2-40B4-BE49-F238E27FC236}">
                <a16:creationId xmlns:a16="http://schemas.microsoft.com/office/drawing/2014/main" id="{48E8D539-64D3-7383-F5D4-6A8175B8C1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37" y="1259191"/>
            <a:ext cx="733312" cy="733312"/>
          </a:xfrm>
          <a:prstGeom prst="ellipse">
            <a:avLst/>
          </a:prstGeom>
        </p:spPr>
      </p:pic>
      <p:pic>
        <p:nvPicPr>
          <p:cNvPr id="15" name="Picture 14" descr="A picture containing outdoor, person, sky, person&#10;&#10;Description automatically generated">
            <a:extLst>
              <a:ext uri="{FF2B5EF4-FFF2-40B4-BE49-F238E27FC236}">
                <a16:creationId xmlns:a16="http://schemas.microsoft.com/office/drawing/2014/main" id="{A6255824-3440-2919-1415-1D93212823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136" y="2699099"/>
            <a:ext cx="748432" cy="780483"/>
          </a:xfrm>
          <a:prstGeom prst="ellipse">
            <a:avLst/>
          </a:prstGeom>
        </p:spPr>
      </p:pic>
      <p:pic>
        <p:nvPicPr>
          <p:cNvPr id="17" name="Picture 16" descr="A person in a blue shirt&#10;&#10;Description automatically generated with medium confidence">
            <a:extLst>
              <a:ext uri="{FF2B5EF4-FFF2-40B4-BE49-F238E27FC236}">
                <a16:creationId xmlns:a16="http://schemas.microsoft.com/office/drawing/2014/main" id="{7F815AEB-6967-121B-7432-8AAD5C5CB8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9447" y="2669547"/>
            <a:ext cx="747271" cy="780483"/>
          </a:xfrm>
          <a:prstGeom prst="ellipse">
            <a:avLst/>
          </a:prstGeom>
        </p:spPr>
      </p:pic>
      <p:pic>
        <p:nvPicPr>
          <p:cNvPr id="3" name="Picture 2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0B151304-825D-6699-8D65-DAE8C0EFEE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441" y="2118424"/>
            <a:ext cx="1034884" cy="864928"/>
          </a:xfrm>
          <a:prstGeom prst="rect">
            <a:avLst/>
          </a:prstGeom>
        </p:spPr>
      </p:pic>
      <p:pic>
        <p:nvPicPr>
          <p:cNvPr id="8" name="Picture 7" descr="A person in a suit with his arms crossed&#10;&#10;Description automatically generated with medium confidence">
            <a:extLst>
              <a:ext uri="{FF2B5EF4-FFF2-40B4-BE49-F238E27FC236}">
                <a16:creationId xmlns:a16="http://schemas.microsoft.com/office/drawing/2014/main" id="{0D23605A-1E40-C62C-3AC3-864C11EA1A3C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-51" t="1250" r="51" b="31955"/>
          <a:stretch/>
        </p:blipFill>
        <p:spPr>
          <a:xfrm>
            <a:off x="5079267" y="2175344"/>
            <a:ext cx="755013" cy="755874"/>
          </a:xfrm>
          <a:prstGeom prst="ellipse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3833B98-7558-ECC9-8C69-43291D98B69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81926" y="4144036"/>
            <a:ext cx="1153223" cy="746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1113</Words>
  <Application>Microsoft Macintosh PowerPoint</Application>
  <PresentationFormat>On-screen Show (16:9)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Helvetica Neue Light</vt:lpstr>
      <vt:lpstr>Calibri</vt:lpstr>
      <vt:lpstr>Gill Sans</vt:lpstr>
      <vt:lpstr>Lato Light</vt:lpstr>
      <vt:lpstr>Rubik SemiBold</vt:lpstr>
      <vt:lpstr>Arial</vt:lpstr>
      <vt:lpstr>Roboto</vt:lpstr>
      <vt:lpstr>Helvetica Neue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Oliver P Key</cp:lastModifiedBy>
  <cp:revision>16</cp:revision>
  <dcterms:modified xsi:type="dcterms:W3CDTF">2023-06-16T00:38:54Z</dcterms:modified>
</cp:coreProperties>
</file>